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8"/>
  </p:notesMasterIdLst>
  <p:sldIdLst>
    <p:sldId id="256" r:id="rId2"/>
    <p:sldId id="257" r:id="rId3"/>
    <p:sldId id="258" r:id="rId4"/>
    <p:sldId id="259" r:id="rId5"/>
    <p:sldId id="260" r:id="rId6"/>
    <p:sldId id="261" r:id="rId7"/>
  </p:sldIdLst>
  <p:sldSz cx="12192000" cy="6858000"/>
  <p:notesSz cx="6858000" cy="12192000"/>
  <p:embeddedFontLst>
    <p:embeddedFont>
      <p:font typeface="DM Sans" pitchFamily="2" charset="0"/>
      <p:regular r:id="rId9"/>
    </p:embeddedFont>
    <p:embeddedFont>
      <p:font typeface="DM Sans SemiBold" panose="020B0604020202020204" charset="0"/>
      <p:regular r:id="rId10"/>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p:scale>
          <a:sx n="130" d="100"/>
          <a:sy n="130" d="100"/>
        </p:scale>
        <p:origin x="-1642" y="-212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font" Target="fonts/font2.fntdata"/><Relationship Id="rId4" Type="http://schemas.openxmlformats.org/officeDocument/2006/relationships/slide" Target="slides/slide3.xml"/><Relationship Id="rId9" Type="http://schemas.openxmlformats.org/officeDocument/2006/relationships/font" Target="fonts/font1.fntdata"/><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35442022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master 1">
    <p:bg>
      <p:bgPr>
        <a:solidFill>
          <a:srgbClr val="00000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2191695" cy="6858000"/>
          </a:xfrm>
          <a:prstGeom prst="rect">
            <a:avLst/>
          </a:prstGeom>
        </p:spPr>
      </p:pic>
      <p:sp>
        <p:nvSpPr>
          <p:cNvPr id="3" name="Shape 0"/>
          <p:cNvSpPr/>
          <p:nvPr/>
        </p:nvSpPr>
        <p:spPr>
          <a:xfrm>
            <a:off x="0" y="0"/>
            <a:ext cx="12191695" cy="6858000"/>
          </a:xfrm>
          <a:prstGeom prst="rect">
            <a:avLst/>
          </a:prstGeom>
          <a:solidFill>
            <a:srgbClr val="FAF9F6"/>
          </a:solidFill>
          <a:ln/>
        </p:spPr>
      </p:sp>
      <p:pic>
        <p:nvPicPr>
          <p:cNvPr id="4" name="Image 1" descr="preencoded.png">
            <a:hlinkClick r:id="rId3"/>
          </p:cNvPr>
          <p:cNvPicPr>
            <a:picLocks noChangeAspect="1"/>
          </p:cNvPicPr>
          <p:nvPr/>
        </p:nvPicPr>
        <p:blipFill>
          <a:blip r:embed="rId4"/>
          <a:stretch>
            <a:fillRect/>
          </a:stretch>
        </p:blipFill>
        <p:spPr>
          <a:xfrm>
            <a:off x="11076875" y="6558991"/>
            <a:ext cx="1071843" cy="256032"/>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jpeg"/><Relationship Id="rId7" Type="http://schemas.openxmlformats.org/officeDocument/2006/relationships/image" Target="../media/image7.pn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image" Target="../media/image10.svg"/><Relationship Id="rId4" Type="http://schemas.openxmlformats.org/officeDocument/2006/relationships/image" Target="../media/image9.png"/></Relationships>
</file>

<file path=ppt/slides/_rels/slide3.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4.xml"/><Relationship Id="rId1" Type="http://schemas.openxmlformats.org/officeDocument/2006/relationships/slideLayout" Target="../slideLayouts/slideLayout2.xml"/><Relationship Id="rId5" Type="http://schemas.openxmlformats.org/officeDocument/2006/relationships/image" Target="../media/image14.svg"/><Relationship Id="rId4" Type="http://schemas.openxmlformats.org/officeDocument/2006/relationships/image" Target="../media/image13.svg"/></Relationships>
</file>

<file path=ppt/slides/_rels/slide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18.jpeg"/><Relationship Id="rId5" Type="http://schemas.openxmlformats.org/officeDocument/2006/relationships/image" Target="../media/image17.jpeg"/><Relationship Id="rId4" Type="http://schemas.openxmlformats.org/officeDocument/2006/relationships/image" Target="../media/image16.jpeg"/></Relationships>
</file>

<file path=ppt/slides/_rels/slide6.xml.rels><?xml version="1.0" encoding="UTF-8" standalone="yes"?>
<Relationships xmlns="http://schemas.openxmlformats.org/package/2006/relationships"><Relationship Id="rId8" Type="http://schemas.openxmlformats.org/officeDocument/2006/relationships/image" Target="../media/image24.svg"/><Relationship Id="rId3" Type="http://schemas.openxmlformats.org/officeDocument/2006/relationships/image" Target="../media/image19.png"/><Relationship Id="rId7" Type="http://schemas.openxmlformats.org/officeDocument/2006/relationships/image" Target="../media/image23.sv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22.svg"/><Relationship Id="rId5" Type="http://schemas.openxmlformats.org/officeDocument/2006/relationships/image" Target="../media/image21.svg"/><Relationship Id="rId4" Type="http://schemas.openxmlformats.org/officeDocument/2006/relationships/image" Target="../media/image20.sv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p:cNvPicPr>
            <a:picLocks noChangeAspect="1"/>
          </p:cNvPicPr>
          <p:nvPr/>
        </p:nvPicPr>
        <p:blipFill>
          <a:blip r:embed="rId3"/>
          <a:stretch>
            <a:fillRect/>
          </a:stretch>
        </p:blipFill>
        <p:spPr>
          <a:xfrm>
            <a:off x="0" y="0"/>
            <a:ext cx="5029074" cy="6858000"/>
          </a:xfrm>
          <a:custGeom>
            <a:avLst/>
            <a:gdLst/>
            <a:ahLst/>
            <a:cxnLst/>
            <a:rect l="0" t="0" r="100000" b="100000"/>
            <a:pathLst>
              <a:path w="100000" h="100000">
                <a:moveTo>
                  <a:pt x="0" y="0"/>
                </a:moveTo>
                <a:lnTo>
                  <a:pt x="99020" y="0"/>
                </a:lnTo>
                <a:lnTo>
                  <a:pt x="95800" y="4880"/>
                </a:lnTo>
                <a:lnTo>
                  <a:pt x="93460" y="8980"/>
                </a:lnTo>
                <a:lnTo>
                  <a:pt x="92770" y="10550"/>
                </a:lnTo>
                <a:lnTo>
                  <a:pt x="92580" y="10640"/>
                </a:lnTo>
                <a:lnTo>
                  <a:pt x="90040" y="16020"/>
                </a:lnTo>
                <a:lnTo>
                  <a:pt x="87990" y="21190"/>
                </a:lnTo>
                <a:lnTo>
                  <a:pt x="86040" y="27340"/>
                </a:lnTo>
                <a:lnTo>
                  <a:pt x="84570" y="33500"/>
                </a:lnTo>
                <a:lnTo>
                  <a:pt x="83590" y="39550"/>
                </a:lnTo>
                <a:lnTo>
                  <a:pt x="83010" y="46970"/>
                </a:lnTo>
                <a:lnTo>
                  <a:pt x="83010" y="53030"/>
                </a:lnTo>
                <a:lnTo>
                  <a:pt x="83590" y="60450"/>
                </a:lnTo>
                <a:lnTo>
                  <a:pt x="84960" y="68360"/>
                </a:lnTo>
                <a:lnTo>
                  <a:pt x="86720" y="75000"/>
                </a:lnTo>
                <a:lnTo>
                  <a:pt x="88570" y="80370"/>
                </a:lnTo>
                <a:lnTo>
                  <a:pt x="91700" y="87600"/>
                </a:lnTo>
                <a:lnTo>
                  <a:pt x="95510" y="94630"/>
                </a:lnTo>
                <a:lnTo>
                  <a:pt x="99020" y="100000"/>
                </a:lnTo>
                <a:lnTo>
                  <a:pt x="0" y="100000"/>
                </a:lnTo>
                <a:close/>
              </a:path>
            </a:pathLst>
          </a:custGeom>
        </p:spPr>
      </p:pic>
      <p:sp>
        <p:nvSpPr>
          <p:cNvPr id="3" name="Text 0"/>
          <p:cNvSpPr/>
          <p:nvPr/>
        </p:nvSpPr>
        <p:spPr>
          <a:xfrm>
            <a:off x="5233360" y="923528"/>
            <a:ext cx="6296860" cy="1426369"/>
          </a:xfrm>
          <a:prstGeom prst="rect">
            <a:avLst/>
          </a:prstGeom>
          <a:noFill/>
          <a:ln/>
        </p:spPr>
        <p:txBody>
          <a:bodyPr wrap="square" lIns="0" tIns="0" rIns="0" bIns="0" rtlCol="0" anchor="t">
            <a:normAutofit/>
          </a:bodyPr>
          <a:lstStyle/>
          <a:p>
            <a:pPr marL="0" indent="0" algn="l">
              <a:lnSpc>
                <a:spcPct val="104000"/>
              </a:lnSpc>
              <a:buNone/>
            </a:pPr>
            <a:r>
              <a:rPr lang="en-US" sz="4450" kern="0" spc="-135" dirty="0">
                <a:solidFill>
                  <a:srgbClr val="455A67"/>
                </a:solidFill>
                <a:latin typeface="DM Sans SemiBold" pitchFamily="34" charset="0"/>
                <a:ea typeface="DM Sans SemiBold" pitchFamily="34" charset="-122"/>
                <a:cs typeface="DM Sans SemiBold" pitchFamily="34" charset="-120"/>
              </a:rPr>
              <a:t>Starlight Stays &amp; Resorts</a:t>
            </a:r>
            <a:endParaRPr lang="en-US" sz="4450" dirty="0"/>
          </a:p>
        </p:txBody>
      </p:sp>
      <p:sp>
        <p:nvSpPr>
          <p:cNvPr id="4" name="Text 1"/>
          <p:cNvSpPr/>
          <p:nvPr/>
        </p:nvSpPr>
        <p:spPr>
          <a:xfrm>
            <a:off x="5233360" y="2597944"/>
            <a:ext cx="6296860" cy="826889"/>
          </a:xfrm>
          <a:prstGeom prst="rect">
            <a:avLst/>
          </a:prstGeom>
          <a:noFill/>
          <a:ln/>
        </p:spPr>
        <p:txBody>
          <a:bodyPr wrap="square" lIns="0" tIns="0" rIns="0" bIns="0" rtlCol="0" anchor="t">
            <a:normAutofit/>
          </a:bodyPr>
          <a:lstStyle/>
          <a:p>
            <a:pPr marL="0" indent="0" algn="l">
              <a:lnSpc>
                <a:spcPct val="104000"/>
              </a:lnSpc>
              <a:buNone/>
            </a:pPr>
            <a:r>
              <a:rPr lang="en-US" sz="2600" kern="0" spc="-78" dirty="0">
                <a:solidFill>
                  <a:srgbClr val="455A67"/>
                </a:solidFill>
                <a:latin typeface="DM Sans SemiBold" pitchFamily="34" charset="0"/>
                <a:ea typeface="DM Sans SemiBold" pitchFamily="34" charset="-122"/>
                <a:cs typeface="DM Sans SemiBold" pitchFamily="34" charset="-120"/>
              </a:rPr>
              <a:t>Automated Reservation Platform Using Microservices</a:t>
            </a:r>
            <a:endParaRPr lang="en-US" sz="2600" dirty="0"/>
          </a:p>
        </p:txBody>
      </p:sp>
      <p:sp>
        <p:nvSpPr>
          <p:cNvPr id="5" name="Text 2"/>
          <p:cNvSpPr/>
          <p:nvPr/>
        </p:nvSpPr>
        <p:spPr>
          <a:xfrm>
            <a:off x="5233360" y="3672880"/>
            <a:ext cx="6296860" cy="979884"/>
          </a:xfrm>
          <a:prstGeom prst="rect">
            <a:avLst/>
          </a:prstGeom>
          <a:noFill/>
          <a:ln/>
        </p:spPr>
        <p:txBody>
          <a:bodyPr wrap="square" lIns="0" tIns="0" rIns="0" bIns="0" rtlCol="0" anchor="t">
            <a:normAutofit/>
          </a:bodyPr>
          <a:lstStyle/>
          <a:p>
            <a:pPr marL="0" indent="0" algn="l">
              <a:lnSpc>
                <a:spcPct val="133000"/>
              </a:lnSpc>
              <a:spcAft>
                <a:spcPts val="1450"/>
              </a:spcAft>
              <a:buNone/>
            </a:pPr>
            <a:r>
              <a:rPr lang="en-US" sz="1300" kern="0" spc="-26" dirty="0">
                <a:solidFill>
                  <a:srgbClr val="4C6680"/>
                </a:solidFill>
                <a:latin typeface="DM Sans" pitchFamily="34" charset="0"/>
                <a:ea typeface="DM Sans" pitchFamily="34" charset="-122"/>
                <a:cs typeface="DM Sans" pitchFamily="34" charset="-120"/>
              </a:rPr>
              <a:t>A distributed microservices-based platform to manage room search, real-time availability, bookings, and guest cancellations across the entire property portfolio.</a:t>
            </a:r>
            <a:endParaRPr lang="en-US" sz="1300" dirty="0"/>
          </a:p>
        </p:txBody>
      </p:sp>
      <p:pic>
        <p:nvPicPr>
          <p:cNvPr id="6" name="Image 1" descr="preencoded.png"/>
          <p:cNvPicPr>
            <a:picLocks noChangeAspect="1"/>
          </p:cNvPicPr>
          <p:nvPr/>
        </p:nvPicPr>
        <p:blipFill>
          <a:blip r:embed="rId4"/>
          <a:stretch>
            <a:fillRect/>
          </a:stretch>
        </p:blipFill>
        <p:spPr>
          <a:xfrm>
            <a:off x="6332578" y="4838799"/>
            <a:ext cx="4098426" cy="454819"/>
          </a:xfrm>
          <a:prstGeom prst="rect">
            <a:avLst/>
          </a:prstGeom>
        </p:spPr>
      </p:pic>
      <p:pic>
        <p:nvPicPr>
          <p:cNvPr id="7" name="Image 2" descr="preencoded.png"/>
          <p:cNvPicPr>
            <a:picLocks noChangeAspect="1"/>
          </p:cNvPicPr>
          <p:nvPr/>
        </p:nvPicPr>
        <p:blipFill>
          <a:blip r:embed="rId5"/>
          <a:stretch>
            <a:fillRect/>
          </a:stretch>
        </p:blipFill>
        <p:spPr>
          <a:xfrm>
            <a:off x="5233360" y="5479653"/>
            <a:ext cx="2891658" cy="454819"/>
          </a:xfrm>
          <a:prstGeom prst="rect">
            <a:avLst/>
          </a:prstGeom>
        </p:spPr>
      </p:pic>
      <p:pic>
        <p:nvPicPr>
          <p:cNvPr id="8" name="Image 3" descr="preencoded.png"/>
          <p:cNvPicPr>
            <a:picLocks noChangeAspect="1"/>
          </p:cNvPicPr>
          <p:nvPr/>
        </p:nvPicPr>
        <p:blipFill>
          <a:blip r:embed="rId6"/>
          <a:stretch>
            <a:fillRect/>
          </a:stretch>
        </p:blipFill>
        <p:spPr>
          <a:xfrm>
            <a:off x="8207666" y="5479653"/>
            <a:ext cx="3207860" cy="454819"/>
          </a:xfrm>
          <a:prstGeom prst="rect">
            <a:avLst/>
          </a:prstGeom>
        </p:spPr>
      </p:pic>
      <p:sp>
        <p:nvSpPr>
          <p:cNvPr id="10" name="Rectangle 9">
            <a:extLst>
              <a:ext uri="{FF2B5EF4-FFF2-40B4-BE49-F238E27FC236}">
                <a16:creationId xmlns:a16="http://schemas.microsoft.com/office/drawing/2014/main" id="{0953FDD3-720F-9DEF-6DE8-7F8C3BD553B7}"/>
              </a:ext>
            </a:extLst>
          </p:cNvPr>
          <p:cNvSpPr/>
          <p:nvPr/>
        </p:nvSpPr>
        <p:spPr>
          <a:xfrm>
            <a:off x="10951722" y="6391469"/>
            <a:ext cx="1156996" cy="409505"/>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12" name="Picture 11">
            <a:extLst>
              <a:ext uri="{FF2B5EF4-FFF2-40B4-BE49-F238E27FC236}">
                <a16:creationId xmlns:a16="http://schemas.microsoft.com/office/drawing/2014/main" id="{0F2AF0F0-6830-33CA-A07B-D49A099C5149}"/>
              </a:ext>
            </a:extLst>
          </p:cNvPr>
          <p:cNvPicPr>
            <a:picLocks noChangeAspect="1"/>
          </p:cNvPicPr>
          <p:nvPr/>
        </p:nvPicPr>
        <p:blipFill>
          <a:blip r:embed="rId7"/>
          <a:srcRect t="14063"/>
          <a:stretch>
            <a:fillRect/>
          </a:stretch>
        </p:blipFill>
        <p:spPr>
          <a:xfrm>
            <a:off x="5233360" y="5387898"/>
            <a:ext cx="2897586" cy="826889"/>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661475" y="670818"/>
            <a:ext cx="1338130" cy="213717"/>
          </a:xfrm>
          <a:prstGeom prst="roundRect">
            <a:avLst>
              <a:gd name="adj" fmla="val 7894"/>
            </a:avLst>
          </a:prstGeom>
          <a:solidFill>
            <a:srgbClr val="DFE6EC"/>
          </a:solidFill>
          <a:ln/>
        </p:spPr>
      </p:sp>
      <p:pic>
        <p:nvPicPr>
          <p:cNvPr id="3" name="Image 0" descr="preencoded.png"/>
          <p:cNvPicPr>
            <a:picLocks noChangeAspect="1"/>
          </p:cNvPicPr>
          <p:nvPr/>
        </p:nvPicPr>
        <p:blipFill>
          <a:blip r:embed="rId3"/>
          <a:stretch>
            <a:fillRect/>
          </a:stretch>
        </p:blipFill>
        <p:spPr>
          <a:xfrm>
            <a:off x="745809" y="721420"/>
            <a:ext cx="112412" cy="112415"/>
          </a:xfrm>
          <a:prstGeom prst="rect">
            <a:avLst/>
          </a:prstGeom>
        </p:spPr>
      </p:pic>
      <p:sp>
        <p:nvSpPr>
          <p:cNvPr id="4" name="Text 1"/>
          <p:cNvSpPr/>
          <p:nvPr/>
        </p:nvSpPr>
        <p:spPr>
          <a:xfrm>
            <a:off x="914377" y="712986"/>
            <a:ext cx="1610478" cy="129381"/>
          </a:xfrm>
          <a:prstGeom prst="rect">
            <a:avLst/>
          </a:prstGeom>
          <a:noFill/>
          <a:ln/>
        </p:spPr>
        <p:txBody>
          <a:bodyPr wrap="none" lIns="0" tIns="0" rIns="0" bIns="0" rtlCol="0" anchor="t"/>
          <a:lstStyle/>
          <a:p>
            <a:pPr marL="0" indent="0" algn="l">
              <a:lnSpc>
                <a:spcPct val="96000"/>
              </a:lnSpc>
              <a:buNone/>
            </a:pPr>
            <a:r>
              <a:rPr lang="en-US" sz="850" kern="0" spc="-22" dirty="0">
                <a:solidFill>
                  <a:srgbClr val="4C6680"/>
                </a:solidFill>
                <a:latin typeface="DM Sans" pitchFamily="34" charset="0"/>
                <a:ea typeface="DM Sans" pitchFamily="34" charset="-122"/>
                <a:cs typeface="DM Sans" pitchFamily="34" charset="-120"/>
              </a:rPr>
              <a:t>BUSINESS USE CASE</a:t>
            </a:r>
            <a:endParaRPr lang="en-US" sz="850" dirty="0"/>
          </a:p>
        </p:txBody>
      </p:sp>
      <p:sp>
        <p:nvSpPr>
          <p:cNvPr id="5" name="Text 2"/>
          <p:cNvSpPr/>
          <p:nvPr/>
        </p:nvSpPr>
        <p:spPr>
          <a:xfrm>
            <a:off x="661475" y="932259"/>
            <a:ext cx="10868745" cy="439241"/>
          </a:xfrm>
          <a:prstGeom prst="rect">
            <a:avLst/>
          </a:prstGeom>
          <a:noFill/>
          <a:ln/>
        </p:spPr>
        <p:txBody>
          <a:bodyPr wrap="none" lIns="0" tIns="0" rIns="0" bIns="0" rtlCol="0" anchor="t"/>
          <a:lstStyle/>
          <a:p>
            <a:pPr marL="0" indent="0" algn="l">
              <a:lnSpc>
                <a:spcPct val="104000"/>
              </a:lnSpc>
              <a:buNone/>
            </a:pPr>
            <a:r>
              <a:rPr lang="en-US" sz="2750" kern="0" spc="-83" dirty="0">
                <a:solidFill>
                  <a:srgbClr val="455A67"/>
                </a:solidFill>
                <a:latin typeface="DM Sans SemiBold" pitchFamily="34" charset="0"/>
                <a:ea typeface="DM Sans SemiBold" pitchFamily="34" charset="-122"/>
                <a:cs typeface="DM Sans SemiBold" pitchFamily="34" charset="-120"/>
              </a:rPr>
              <a:t>Why Starlight Stays Needs This Platform</a:t>
            </a:r>
            <a:endParaRPr lang="en-US" sz="2750" dirty="0"/>
          </a:p>
        </p:txBody>
      </p:sp>
      <p:sp>
        <p:nvSpPr>
          <p:cNvPr id="6" name="Text 3"/>
          <p:cNvSpPr/>
          <p:nvPr/>
        </p:nvSpPr>
        <p:spPr>
          <a:xfrm>
            <a:off x="661475" y="2000548"/>
            <a:ext cx="5599270" cy="832247"/>
          </a:xfrm>
          <a:prstGeom prst="rect">
            <a:avLst/>
          </a:prstGeom>
          <a:noFill/>
          <a:ln/>
        </p:spPr>
        <p:txBody>
          <a:bodyPr wrap="square" lIns="0" tIns="0" rIns="0" bIns="0" rtlCol="0" anchor="t">
            <a:normAutofit/>
          </a:bodyPr>
          <a:lstStyle/>
          <a:p>
            <a:pPr marL="0" indent="0" algn="l">
              <a:lnSpc>
                <a:spcPct val="123000"/>
              </a:lnSpc>
              <a:buNone/>
            </a:pPr>
            <a:r>
              <a:rPr lang="en-US" sz="1100" kern="0" spc="-22" dirty="0">
                <a:solidFill>
                  <a:srgbClr val="4C6680"/>
                </a:solidFill>
                <a:latin typeface="DM Sans" pitchFamily="34" charset="0"/>
                <a:ea typeface="DM Sans" pitchFamily="34" charset="-122"/>
                <a:cs typeface="DM Sans" pitchFamily="34" charset="-120"/>
              </a:rPr>
              <a:t>Starlight Stays &amp; Resorts requires an automated reservation platform to manage room search, real-time availability, bookings, and guest cancellations across its property portfolio. Manual or poorly synchronized systems lead to double bookings, incorrect availability, and delays during peak seasons.</a:t>
            </a:r>
            <a:endParaRPr lang="en-US" sz="1100" dirty="0"/>
          </a:p>
        </p:txBody>
      </p:sp>
      <p:pic>
        <p:nvPicPr>
          <p:cNvPr id="7" name="Image 1" descr="preencoded.png"/>
          <p:cNvPicPr>
            <a:picLocks noChangeAspect="1"/>
          </p:cNvPicPr>
          <p:nvPr/>
        </p:nvPicPr>
        <p:blipFill>
          <a:blip r:embed="rId4"/>
          <a:stretch>
            <a:fillRect/>
          </a:stretch>
        </p:blipFill>
        <p:spPr>
          <a:xfrm>
            <a:off x="1081457" y="2967137"/>
            <a:ext cx="4759305" cy="2178248"/>
          </a:xfrm>
          <a:prstGeom prst="rect">
            <a:avLst/>
          </a:prstGeom>
        </p:spPr>
      </p:pic>
      <p:sp>
        <p:nvSpPr>
          <p:cNvPr id="8" name="Text 4"/>
          <p:cNvSpPr/>
          <p:nvPr/>
        </p:nvSpPr>
        <p:spPr>
          <a:xfrm>
            <a:off x="4725689" y="4628120"/>
            <a:ext cx="893530" cy="172131"/>
          </a:xfrm>
          <a:prstGeom prst="rect">
            <a:avLst/>
          </a:prstGeom>
          <a:noFill/>
          <a:ln/>
        </p:spPr>
        <p:txBody>
          <a:bodyPr wrap="none" lIns="0" tIns="0" rIns="0" bIns="0" rtlCol="0" anchor="t"/>
          <a:lstStyle/>
          <a:p>
            <a:pPr marL="0" indent="0" algn="ctr">
              <a:lnSpc>
                <a:spcPct val="104000"/>
              </a:lnSpc>
              <a:buNone/>
            </a:pPr>
            <a:r>
              <a:rPr lang="en-US" sz="1050" kern="0" spc="-33" dirty="0">
                <a:solidFill>
                  <a:srgbClr val="4C6680"/>
                </a:solidFill>
                <a:latin typeface="DM Sans SemiBold" pitchFamily="34" charset="0"/>
                <a:ea typeface="DM Sans SemiBold" pitchFamily="34" charset="-122"/>
                <a:cs typeface="DM Sans SemiBold" pitchFamily="34" charset="-120"/>
              </a:rPr>
              <a:t>Confirm</a:t>
            </a:r>
            <a:endParaRPr lang="en-US" sz="1050" dirty="0"/>
          </a:p>
        </p:txBody>
      </p:sp>
      <p:sp>
        <p:nvSpPr>
          <p:cNvPr id="9" name="Text 5"/>
          <p:cNvSpPr/>
          <p:nvPr/>
        </p:nvSpPr>
        <p:spPr>
          <a:xfrm>
            <a:off x="3599595" y="4542054"/>
            <a:ext cx="893531" cy="344263"/>
          </a:xfrm>
          <a:prstGeom prst="rect">
            <a:avLst/>
          </a:prstGeom>
          <a:noFill/>
          <a:ln/>
        </p:spPr>
        <p:txBody>
          <a:bodyPr wrap="square" lIns="0" tIns="0" rIns="0" bIns="0" rtlCol="0" anchor="t">
            <a:normAutofit/>
          </a:bodyPr>
          <a:lstStyle/>
          <a:p>
            <a:pPr marL="0" indent="0" algn="ctr">
              <a:lnSpc>
                <a:spcPct val="104000"/>
              </a:lnSpc>
              <a:buNone/>
            </a:pPr>
            <a:r>
              <a:rPr lang="en-US" sz="1050" kern="0" spc="-33" dirty="0">
                <a:solidFill>
                  <a:srgbClr val="4C6680"/>
                </a:solidFill>
                <a:latin typeface="DM Sans SemiBold" pitchFamily="34" charset="0"/>
                <a:ea typeface="DM Sans SemiBold" pitchFamily="34" charset="-122"/>
                <a:cs typeface="DM Sans SemiBold" pitchFamily="34" charset="-120"/>
              </a:rPr>
              <a:t>Book or Cancel</a:t>
            </a:r>
            <a:endParaRPr lang="en-US" sz="1050" dirty="0"/>
          </a:p>
        </p:txBody>
      </p:sp>
      <p:sp>
        <p:nvSpPr>
          <p:cNvPr id="10" name="Text 6"/>
          <p:cNvSpPr/>
          <p:nvPr/>
        </p:nvSpPr>
        <p:spPr>
          <a:xfrm>
            <a:off x="2479621" y="4628120"/>
            <a:ext cx="893531" cy="172131"/>
          </a:xfrm>
          <a:prstGeom prst="rect">
            <a:avLst/>
          </a:prstGeom>
          <a:noFill/>
          <a:ln/>
        </p:spPr>
        <p:txBody>
          <a:bodyPr wrap="none" lIns="0" tIns="0" rIns="0" bIns="0" rtlCol="0" anchor="t"/>
          <a:lstStyle/>
          <a:p>
            <a:pPr marL="0" indent="0" algn="ctr">
              <a:lnSpc>
                <a:spcPct val="104000"/>
              </a:lnSpc>
              <a:buNone/>
            </a:pPr>
            <a:r>
              <a:rPr lang="en-US" sz="1050" kern="0" spc="-33" dirty="0">
                <a:solidFill>
                  <a:srgbClr val="4C6680"/>
                </a:solidFill>
                <a:latin typeface="DM Sans SemiBold" pitchFamily="34" charset="0"/>
                <a:ea typeface="DM Sans SemiBold" pitchFamily="34" charset="-122"/>
                <a:cs typeface="DM Sans SemiBold" pitchFamily="34" charset="-120"/>
              </a:rPr>
              <a:t>Search</a:t>
            </a:r>
            <a:endParaRPr lang="en-US" sz="1050" dirty="0"/>
          </a:p>
        </p:txBody>
      </p:sp>
      <p:sp>
        <p:nvSpPr>
          <p:cNvPr id="11" name="Text 7"/>
          <p:cNvSpPr/>
          <p:nvPr/>
        </p:nvSpPr>
        <p:spPr>
          <a:xfrm>
            <a:off x="1335168" y="4628120"/>
            <a:ext cx="893531" cy="172131"/>
          </a:xfrm>
          <a:prstGeom prst="rect">
            <a:avLst/>
          </a:prstGeom>
          <a:noFill/>
          <a:ln/>
        </p:spPr>
        <p:txBody>
          <a:bodyPr wrap="none" lIns="0" tIns="0" rIns="0" bIns="0" rtlCol="0" anchor="t"/>
          <a:lstStyle/>
          <a:p>
            <a:pPr marL="0" indent="0" algn="ctr">
              <a:lnSpc>
                <a:spcPct val="104000"/>
              </a:lnSpc>
              <a:buNone/>
            </a:pPr>
            <a:r>
              <a:rPr lang="en-US" sz="1050" kern="0" spc="-33" dirty="0">
                <a:solidFill>
                  <a:srgbClr val="4C6680"/>
                </a:solidFill>
                <a:latin typeface="DM Sans SemiBold" pitchFamily="34" charset="0"/>
                <a:ea typeface="DM Sans SemiBold" pitchFamily="34" charset="-122"/>
                <a:cs typeface="DM Sans SemiBold" pitchFamily="34" charset="-120"/>
              </a:rPr>
              <a:t>Login</a:t>
            </a:r>
            <a:endParaRPr lang="en-US" sz="1050" dirty="0"/>
          </a:p>
        </p:txBody>
      </p:sp>
      <p:sp>
        <p:nvSpPr>
          <p:cNvPr id="12" name="Text 8"/>
          <p:cNvSpPr/>
          <p:nvPr/>
        </p:nvSpPr>
        <p:spPr>
          <a:xfrm>
            <a:off x="6609986" y="2012553"/>
            <a:ext cx="4926485" cy="439142"/>
          </a:xfrm>
          <a:prstGeom prst="rect">
            <a:avLst/>
          </a:prstGeom>
          <a:noFill/>
          <a:ln/>
        </p:spPr>
        <p:txBody>
          <a:bodyPr wrap="square" lIns="0" tIns="0" rIns="0" bIns="0" rtlCol="0" anchor="t">
            <a:normAutofit/>
          </a:bodyPr>
          <a:lstStyle/>
          <a:p>
            <a:pPr marL="0" indent="0" algn="l">
              <a:lnSpc>
                <a:spcPct val="104000"/>
              </a:lnSpc>
              <a:buNone/>
            </a:pPr>
            <a:r>
              <a:rPr lang="en-US" sz="1350" kern="0" spc="-42" dirty="0">
                <a:solidFill>
                  <a:srgbClr val="455A67"/>
                </a:solidFill>
                <a:latin typeface="DM Sans SemiBold" pitchFamily="34" charset="0"/>
                <a:ea typeface="DM Sans SemiBold" pitchFamily="34" charset="-122"/>
                <a:cs typeface="DM Sans SemiBold" pitchFamily="34" charset="-120"/>
              </a:rPr>
              <a:t>The platform mandates microservices to address complex operational requirements:</a:t>
            </a:r>
            <a:endParaRPr lang="en-US" sz="1350" dirty="0"/>
          </a:p>
        </p:txBody>
      </p:sp>
      <p:sp>
        <p:nvSpPr>
          <p:cNvPr id="13" name="Text 9"/>
          <p:cNvSpPr/>
          <p:nvPr/>
        </p:nvSpPr>
        <p:spPr>
          <a:xfrm>
            <a:off x="6609986" y="2571155"/>
            <a:ext cx="4926485" cy="624185"/>
          </a:xfrm>
          <a:prstGeom prst="rect">
            <a:avLst/>
          </a:prstGeom>
          <a:noFill/>
          <a:ln/>
        </p:spPr>
        <p:txBody>
          <a:bodyPr wrap="square" lIns="0" tIns="0" rIns="0" bIns="0" rtlCol="0" anchor="t">
            <a:normAutofit/>
          </a:bodyPr>
          <a:lstStyle/>
          <a:p>
            <a:pPr marL="0" indent="0" algn="l">
              <a:lnSpc>
                <a:spcPct val="123000"/>
              </a:lnSpc>
              <a:buNone/>
            </a:pPr>
            <a:r>
              <a:rPr lang="en-US" sz="1100" kern="0" spc="-22" dirty="0">
                <a:solidFill>
                  <a:srgbClr val="4C6680"/>
                </a:solidFill>
                <a:latin typeface="DM Sans" pitchFamily="34" charset="0"/>
                <a:ea typeface="DM Sans" pitchFamily="34" charset="-122"/>
                <a:cs typeface="DM Sans" pitchFamily="34" charset="-120"/>
              </a:rPr>
              <a:t>JWT Authentication secures APIs, an API Gateway provides centralized routing, and Eureka Service Discovery enables services to find each other without fixed addresses.</a:t>
            </a:r>
            <a:endParaRPr lang="en-US" sz="1100" dirty="0"/>
          </a:p>
        </p:txBody>
      </p:sp>
      <p:pic>
        <p:nvPicPr>
          <p:cNvPr id="14"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6609986" y="3329682"/>
            <a:ext cx="4926485" cy="828080"/>
          </a:xfrm>
          <a:prstGeom prst="rect">
            <a:avLst/>
          </a:prstGeom>
        </p:spPr>
      </p:pic>
      <p:sp>
        <p:nvSpPr>
          <p:cNvPr id="15" name="Text 10"/>
          <p:cNvSpPr/>
          <p:nvPr/>
        </p:nvSpPr>
        <p:spPr>
          <a:xfrm>
            <a:off x="6750476" y="3470176"/>
            <a:ext cx="4645504" cy="219571"/>
          </a:xfrm>
          <a:prstGeom prst="rect">
            <a:avLst/>
          </a:prstGeom>
          <a:noFill/>
          <a:ln/>
        </p:spPr>
        <p:txBody>
          <a:bodyPr wrap="none" lIns="0" tIns="0" rIns="0" bIns="0" rtlCol="0" anchor="t"/>
          <a:lstStyle/>
          <a:p>
            <a:pPr marL="0" indent="0" algn="l">
              <a:lnSpc>
                <a:spcPct val="104000"/>
              </a:lnSpc>
              <a:buNone/>
            </a:pPr>
            <a:r>
              <a:rPr lang="en-US" sz="1350" kern="0" spc="-42" dirty="0">
                <a:solidFill>
                  <a:srgbClr val="4C6680"/>
                </a:solidFill>
                <a:latin typeface="DM Sans SemiBold" pitchFamily="34" charset="0"/>
                <a:ea typeface="DM Sans SemiBold" pitchFamily="34" charset="-122"/>
                <a:cs typeface="DM Sans SemiBold" pitchFamily="34" charset="-120"/>
              </a:rPr>
              <a:t>Prevent Double Booking</a:t>
            </a:r>
            <a:endParaRPr lang="en-US" sz="1350" dirty="0"/>
          </a:p>
        </p:txBody>
      </p:sp>
      <p:sp>
        <p:nvSpPr>
          <p:cNvPr id="16" name="Text 11"/>
          <p:cNvSpPr/>
          <p:nvPr/>
        </p:nvSpPr>
        <p:spPr>
          <a:xfrm>
            <a:off x="6750476" y="3809206"/>
            <a:ext cx="4645504" cy="208062"/>
          </a:xfrm>
          <a:prstGeom prst="rect">
            <a:avLst/>
          </a:prstGeom>
          <a:noFill/>
          <a:ln/>
        </p:spPr>
        <p:txBody>
          <a:bodyPr wrap="none" lIns="0" tIns="0" rIns="0" bIns="0" rtlCol="0" anchor="t"/>
          <a:lstStyle/>
          <a:p>
            <a:pPr marL="0" indent="0" algn="l">
              <a:lnSpc>
                <a:spcPct val="123000"/>
              </a:lnSpc>
              <a:buNone/>
            </a:pPr>
            <a:r>
              <a:rPr lang="en-US" sz="1100" kern="0" spc="-22" dirty="0">
                <a:solidFill>
                  <a:srgbClr val="4C6680"/>
                </a:solidFill>
                <a:latin typeface="DM Sans" pitchFamily="34" charset="0"/>
                <a:ea typeface="DM Sans" pitchFamily="34" charset="-122"/>
                <a:cs typeface="DM Sans" pitchFamily="34" charset="-120"/>
              </a:rPr>
              <a:t>Real-time date-range validation before confirming reservations</a:t>
            </a:r>
            <a:endParaRPr lang="en-US" sz="1100" dirty="0"/>
          </a:p>
        </p:txBody>
      </p:sp>
      <p:pic>
        <p:nvPicPr>
          <p:cNvPr id="17" name="Image 3"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6609986" y="4277221"/>
            <a:ext cx="4926485" cy="828080"/>
          </a:xfrm>
          <a:prstGeom prst="rect">
            <a:avLst/>
          </a:prstGeom>
        </p:spPr>
      </p:pic>
      <p:sp>
        <p:nvSpPr>
          <p:cNvPr id="18" name="Text 12"/>
          <p:cNvSpPr/>
          <p:nvPr/>
        </p:nvSpPr>
        <p:spPr>
          <a:xfrm>
            <a:off x="6750476" y="4417715"/>
            <a:ext cx="4645504" cy="219571"/>
          </a:xfrm>
          <a:prstGeom prst="rect">
            <a:avLst/>
          </a:prstGeom>
          <a:noFill/>
          <a:ln/>
        </p:spPr>
        <p:txBody>
          <a:bodyPr wrap="none" lIns="0" tIns="0" rIns="0" bIns="0" rtlCol="0" anchor="t"/>
          <a:lstStyle/>
          <a:p>
            <a:pPr marL="0" indent="0" algn="l">
              <a:lnSpc>
                <a:spcPct val="104000"/>
              </a:lnSpc>
              <a:buNone/>
            </a:pPr>
            <a:r>
              <a:rPr lang="en-US" sz="1350" kern="0" spc="-42" dirty="0">
                <a:solidFill>
                  <a:srgbClr val="4C6680"/>
                </a:solidFill>
                <a:latin typeface="DM Sans SemiBold" pitchFamily="34" charset="0"/>
                <a:ea typeface="DM Sans SemiBold" pitchFamily="34" charset="-122"/>
                <a:cs typeface="DM Sans SemiBold" pitchFamily="34" charset="-120"/>
              </a:rPr>
              <a:t>Dynamic Availability</a:t>
            </a:r>
            <a:endParaRPr lang="en-US" sz="1350" dirty="0"/>
          </a:p>
        </p:txBody>
      </p:sp>
      <p:sp>
        <p:nvSpPr>
          <p:cNvPr id="19" name="Text 13"/>
          <p:cNvSpPr/>
          <p:nvPr/>
        </p:nvSpPr>
        <p:spPr>
          <a:xfrm>
            <a:off x="6750476" y="4756745"/>
            <a:ext cx="4645504" cy="208062"/>
          </a:xfrm>
          <a:prstGeom prst="rect">
            <a:avLst/>
          </a:prstGeom>
          <a:noFill/>
          <a:ln/>
        </p:spPr>
        <p:txBody>
          <a:bodyPr wrap="none" lIns="0" tIns="0" rIns="0" bIns="0" rtlCol="0" anchor="t"/>
          <a:lstStyle/>
          <a:p>
            <a:pPr marL="0" indent="0" algn="l">
              <a:lnSpc>
                <a:spcPct val="123000"/>
              </a:lnSpc>
              <a:buNone/>
            </a:pPr>
            <a:r>
              <a:rPr lang="en-US" sz="1100" kern="0" spc="-22" dirty="0">
                <a:solidFill>
                  <a:srgbClr val="4C6680"/>
                </a:solidFill>
                <a:latin typeface="DM Sans" pitchFamily="34" charset="0"/>
                <a:ea typeface="DM Sans" pitchFamily="34" charset="-122"/>
                <a:cs typeface="DM Sans" pitchFamily="34" charset="-120"/>
              </a:rPr>
              <a:t>Automatically updates room inventory after every booking or cancellation</a:t>
            </a:r>
            <a:endParaRPr lang="en-US" sz="1100" dirty="0"/>
          </a:p>
        </p:txBody>
      </p:sp>
      <p:pic>
        <p:nvPicPr>
          <p:cNvPr id="20" name="Image 4"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6609986" y="5224760"/>
            <a:ext cx="4926485" cy="828080"/>
          </a:xfrm>
          <a:prstGeom prst="rect">
            <a:avLst/>
          </a:prstGeom>
        </p:spPr>
      </p:pic>
      <p:sp>
        <p:nvSpPr>
          <p:cNvPr id="21" name="Text 14"/>
          <p:cNvSpPr/>
          <p:nvPr/>
        </p:nvSpPr>
        <p:spPr>
          <a:xfrm>
            <a:off x="6750476" y="5365254"/>
            <a:ext cx="4645504" cy="219571"/>
          </a:xfrm>
          <a:prstGeom prst="rect">
            <a:avLst/>
          </a:prstGeom>
          <a:noFill/>
          <a:ln/>
        </p:spPr>
        <p:txBody>
          <a:bodyPr wrap="none" lIns="0" tIns="0" rIns="0" bIns="0" rtlCol="0" anchor="t"/>
          <a:lstStyle/>
          <a:p>
            <a:pPr marL="0" indent="0" algn="l">
              <a:lnSpc>
                <a:spcPct val="104000"/>
              </a:lnSpc>
              <a:buNone/>
            </a:pPr>
            <a:r>
              <a:rPr lang="en-US" sz="1350" kern="0" spc="-42" dirty="0">
                <a:solidFill>
                  <a:srgbClr val="4C6680"/>
                </a:solidFill>
                <a:latin typeface="DM Sans SemiBold" pitchFamily="34" charset="0"/>
                <a:ea typeface="DM Sans SemiBold" pitchFamily="34" charset="-122"/>
                <a:cs typeface="DM Sans SemiBold" pitchFamily="34" charset="-120"/>
              </a:rPr>
              <a:t>Peak Season Resilience</a:t>
            </a:r>
            <a:endParaRPr lang="en-US" sz="1350" dirty="0"/>
          </a:p>
        </p:txBody>
      </p:sp>
      <p:sp>
        <p:nvSpPr>
          <p:cNvPr id="22" name="Text 15"/>
          <p:cNvSpPr/>
          <p:nvPr/>
        </p:nvSpPr>
        <p:spPr>
          <a:xfrm>
            <a:off x="6750476" y="5704284"/>
            <a:ext cx="4645504" cy="208062"/>
          </a:xfrm>
          <a:prstGeom prst="rect">
            <a:avLst/>
          </a:prstGeom>
          <a:noFill/>
          <a:ln/>
        </p:spPr>
        <p:txBody>
          <a:bodyPr wrap="none" lIns="0" tIns="0" rIns="0" bIns="0" rtlCol="0" anchor="t"/>
          <a:lstStyle/>
          <a:p>
            <a:pPr marL="0" indent="0" algn="l">
              <a:lnSpc>
                <a:spcPct val="123000"/>
              </a:lnSpc>
              <a:buNone/>
            </a:pPr>
            <a:r>
              <a:rPr lang="en-US" sz="1100" kern="0" spc="-22" dirty="0">
                <a:solidFill>
                  <a:srgbClr val="4C6680"/>
                </a:solidFill>
                <a:latin typeface="DM Sans" pitchFamily="34" charset="0"/>
                <a:ea typeface="DM Sans" pitchFamily="34" charset="-122"/>
                <a:cs typeface="DM Sans" pitchFamily="34" charset="-120"/>
              </a:rPr>
              <a:t>Scales independently to support high booking traffic</a:t>
            </a:r>
            <a:endParaRPr lang="en-US" sz="1100" dirty="0"/>
          </a:p>
        </p:txBody>
      </p:sp>
      <p:sp>
        <p:nvSpPr>
          <p:cNvPr id="24" name="Rectangle 23">
            <a:extLst>
              <a:ext uri="{FF2B5EF4-FFF2-40B4-BE49-F238E27FC236}">
                <a16:creationId xmlns:a16="http://schemas.microsoft.com/office/drawing/2014/main" id="{A3D72A7F-B63F-04E8-5950-683BA4E47D3E}"/>
              </a:ext>
            </a:extLst>
          </p:cNvPr>
          <p:cNvSpPr/>
          <p:nvPr/>
        </p:nvSpPr>
        <p:spPr>
          <a:xfrm>
            <a:off x="10951722" y="6391469"/>
            <a:ext cx="1156996" cy="395499"/>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661475" y="717153"/>
            <a:ext cx="10868745" cy="465138"/>
          </a:xfrm>
          <a:prstGeom prst="rect">
            <a:avLst/>
          </a:prstGeom>
          <a:noFill/>
          <a:ln/>
        </p:spPr>
        <p:txBody>
          <a:bodyPr wrap="none" lIns="0" tIns="0" rIns="0" bIns="0" rtlCol="0" anchor="t"/>
          <a:lstStyle/>
          <a:p>
            <a:pPr marL="0" indent="0" algn="l">
              <a:lnSpc>
                <a:spcPct val="104000"/>
              </a:lnSpc>
              <a:buNone/>
            </a:pPr>
            <a:r>
              <a:rPr lang="en-US" sz="2900" kern="0" spc="-88" dirty="0">
                <a:solidFill>
                  <a:srgbClr val="455A67"/>
                </a:solidFill>
                <a:latin typeface="DM Sans SemiBold" pitchFamily="34" charset="0"/>
                <a:ea typeface="DM Sans SemiBold" pitchFamily="34" charset="-122"/>
                <a:cs typeface="DM Sans SemiBold" pitchFamily="34" charset="-120"/>
              </a:rPr>
              <a:t>System Objectives &amp; Core Tasks</a:t>
            </a:r>
            <a:endParaRPr lang="en-US" sz="2900" dirty="0"/>
          </a:p>
        </p:txBody>
      </p:sp>
      <p:sp>
        <p:nvSpPr>
          <p:cNvPr id="3" name="Text 1"/>
          <p:cNvSpPr/>
          <p:nvPr/>
        </p:nvSpPr>
        <p:spPr>
          <a:xfrm>
            <a:off x="661475" y="1450181"/>
            <a:ext cx="10868745" cy="829370"/>
          </a:xfrm>
          <a:prstGeom prst="rect">
            <a:avLst/>
          </a:prstGeom>
          <a:noFill/>
          <a:ln/>
        </p:spPr>
        <p:txBody>
          <a:bodyPr wrap="square" lIns="0" tIns="0" rIns="0" bIns="0" rtlCol="0" anchor="t"/>
          <a:lstStyle/>
          <a:p>
            <a:pPr marL="0" indent="0" algn="l">
              <a:lnSpc>
                <a:spcPct val="127000"/>
              </a:lnSpc>
              <a:spcAft>
                <a:spcPts val="1150"/>
              </a:spcAft>
              <a:buNone/>
            </a:pPr>
            <a:endParaRPr lang="en-US" sz="1150" dirty="0"/>
          </a:p>
          <a:p>
            <a:pPr marL="0" indent="0" algn="l">
              <a:lnSpc>
                <a:spcPct val="127000"/>
              </a:lnSpc>
              <a:buNone/>
            </a:pPr>
            <a:r>
              <a:rPr lang="en-US" sz="1150" kern="0" spc="-23" dirty="0">
                <a:solidFill>
                  <a:srgbClr val="4C6680"/>
                </a:solidFill>
                <a:latin typeface="DM Sans" pitchFamily="34" charset="0"/>
                <a:ea typeface="DM Sans" pitchFamily="34" charset="-122"/>
                <a:cs typeface="DM Sans" pitchFamily="34" charset="-120"/>
              </a:rPr>
              <a:t>The Starlight Stays platform is built around clearly defined objectives ensuring customers can search, book, and cancel rooms reliably — while operators maintain accurate, real-time inventory control.</a:t>
            </a:r>
            <a:endParaRPr lang="en-US" sz="1150" dirty="0"/>
          </a:p>
        </p:txBody>
      </p:sp>
      <p:pic>
        <p:nvPicPr>
          <p:cNvPr id="4"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61475" y="2430264"/>
            <a:ext cx="10868745" cy="1147564"/>
          </a:xfrm>
          <a:prstGeom prst="rect">
            <a:avLst/>
          </a:prstGeom>
        </p:spPr>
      </p:pic>
      <p:sp>
        <p:nvSpPr>
          <p:cNvPr id="5" name="Text 2"/>
          <p:cNvSpPr/>
          <p:nvPr/>
        </p:nvSpPr>
        <p:spPr>
          <a:xfrm>
            <a:off x="866555" y="2864445"/>
            <a:ext cx="223237" cy="279102"/>
          </a:xfrm>
          <a:prstGeom prst="rect">
            <a:avLst/>
          </a:prstGeom>
          <a:noFill/>
          <a:ln/>
        </p:spPr>
        <p:txBody>
          <a:bodyPr wrap="none" lIns="0" tIns="0" rIns="0" bIns="0" rtlCol="0" anchor="ctr"/>
          <a:lstStyle/>
          <a:p>
            <a:pPr marL="0" indent="0" algn="ctr">
              <a:lnSpc>
                <a:spcPct val="100000"/>
              </a:lnSpc>
              <a:buNone/>
            </a:pPr>
            <a:r>
              <a:rPr lang="en-US" sz="1750" kern="0" spc="-53" dirty="0">
                <a:solidFill>
                  <a:srgbClr val="4C6680"/>
                </a:solidFill>
                <a:latin typeface="DM Sans SemiBold" pitchFamily="34" charset="0"/>
                <a:ea typeface="DM Sans SemiBold" pitchFamily="34" charset="-122"/>
                <a:cs typeface="DM Sans SemiBold" pitchFamily="34" charset="-120"/>
              </a:rPr>
              <a:t>1</a:t>
            </a:r>
            <a:endParaRPr lang="en-US" sz="1750" dirty="0"/>
          </a:p>
        </p:txBody>
      </p:sp>
      <p:sp>
        <p:nvSpPr>
          <p:cNvPr id="6" name="Text 3"/>
          <p:cNvSpPr/>
          <p:nvPr/>
        </p:nvSpPr>
        <p:spPr>
          <a:xfrm>
            <a:off x="1409863" y="2598142"/>
            <a:ext cx="9952483" cy="279003"/>
          </a:xfrm>
          <a:prstGeom prst="rect">
            <a:avLst/>
          </a:prstGeom>
          <a:noFill/>
          <a:ln/>
        </p:spPr>
        <p:txBody>
          <a:bodyPr wrap="none" lIns="0" tIns="0" rIns="0" bIns="0" rtlCol="0" anchor="t"/>
          <a:lstStyle/>
          <a:p>
            <a:pPr marL="0" indent="0" algn="l">
              <a:lnSpc>
                <a:spcPct val="104000"/>
              </a:lnSpc>
              <a:buNone/>
            </a:pPr>
            <a:r>
              <a:rPr lang="en-US" sz="1750" kern="0" spc="-53" dirty="0">
                <a:solidFill>
                  <a:srgbClr val="4C6680"/>
                </a:solidFill>
                <a:latin typeface="DM Sans SemiBold" pitchFamily="34" charset="0"/>
                <a:ea typeface="DM Sans SemiBold" pitchFamily="34" charset="-122"/>
                <a:cs typeface="DM Sans SemiBold" pitchFamily="34" charset="-120"/>
              </a:rPr>
              <a:t>Customer-Facing Capabilities</a:t>
            </a:r>
            <a:endParaRPr lang="en-US" sz="1750" dirty="0"/>
          </a:p>
        </p:txBody>
      </p:sp>
      <p:sp>
        <p:nvSpPr>
          <p:cNvPr id="7" name="Text 4"/>
          <p:cNvSpPr/>
          <p:nvPr/>
        </p:nvSpPr>
        <p:spPr>
          <a:xfrm>
            <a:off x="1409863" y="2957513"/>
            <a:ext cx="9952483" cy="452438"/>
          </a:xfrm>
          <a:prstGeom prst="rect">
            <a:avLst/>
          </a:prstGeom>
          <a:noFill/>
          <a:ln/>
        </p:spPr>
        <p:txBody>
          <a:bodyPr wrap="square" lIns="0" tIns="0" rIns="0" bIns="0" rtlCol="0" anchor="t">
            <a:normAutofit/>
          </a:bodyPr>
          <a:lstStyle/>
          <a:p>
            <a:pPr marL="0" indent="0" algn="l">
              <a:lnSpc>
                <a:spcPct val="127000"/>
              </a:lnSpc>
              <a:buNone/>
            </a:pPr>
            <a:r>
              <a:rPr lang="en-US" sz="1150" kern="0" spc="-23" dirty="0">
                <a:solidFill>
                  <a:srgbClr val="4C6680"/>
                </a:solidFill>
                <a:latin typeface="DM Sans" pitchFamily="34" charset="0"/>
                <a:ea typeface="DM Sans" pitchFamily="34" charset="-122"/>
                <a:cs typeface="DM Sans" pitchFamily="34" charset="-120"/>
              </a:rPr>
              <a:t>Allow customers to search available rooms, check real-time availability for selected dates, make reservations, view booking details, and cancel reservations. The system must prevent double booking and automatically update availability after every transaction.</a:t>
            </a:r>
            <a:endParaRPr lang="en-US" sz="1150" dirty="0"/>
          </a:p>
        </p:txBody>
      </p:sp>
      <p:pic>
        <p:nvPicPr>
          <p:cNvPr id="8" name="Image 1"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61475" y="3711773"/>
            <a:ext cx="10868745" cy="1147564"/>
          </a:xfrm>
          <a:prstGeom prst="rect">
            <a:avLst/>
          </a:prstGeom>
        </p:spPr>
      </p:pic>
      <p:sp>
        <p:nvSpPr>
          <p:cNvPr id="9" name="Text 5"/>
          <p:cNvSpPr/>
          <p:nvPr/>
        </p:nvSpPr>
        <p:spPr>
          <a:xfrm>
            <a:off x="866555" y="4145955"/>
            <a:ext cx="223237" cy="279102"/>
          </a:xfrm>
          <a:prstGeom prst="rect">
            <a:avLst/>
          </a:prstGeom>
          <a:noFill/>
          <a:ln/>
        </p:spPr>
        <p:txBody>
          <a:bodyPr wrap="none" lIns="0" tIns="0" rIns="0" bIns="0" rtlCol="0" anchor="ctr"/>
          <a:lstStyle/>
          <a:p>
            <a:pPr marL="0" indent="0" algn="ctr">
              <a:lnSpc>
                <a:spcPct val="100000"/>
              </a:lnSpc>
              <a:buNone/>
            </a:pPr>
            <a:r>
              <a:rPr lang="en-US" sz="1750" kern="0" spc="-53" dirty="0">
                <a:solidFill>
                  <a:srgbClr val="4C6680"/>
                </a:solidFill>
                <a:latin typeface="DM Sans SemiBold" pitchFamily="34" charset="0"/>
                <a:ea typeface="DM Sans SemiBold" pitchFamily="34" charset="-122"/>
                <a:cs typeface="DM Sans SemiBold" pitchFamily="34" charset="-120"/>
              </a:rPr>
              <a:t>2</a:t>
            </a:r>
            <a:endParaRPr lang="en-US" sz="1750" dirty="0"/>
          </a:p>
        </p:txBody>
      </p:sp>
      <p:sp>
        <p:nvSpPr>
          <p:cNvPr id="10" name="Text 6"/>
          <p:cNvSpPr/>
          <p:nvPr/>
        </p:nvSpPr>
        <p:spPr>
          <a:xfrm>
            <a:off x="1409863" y="3879652"/>
            <a:ext cx="9952483" cy="279003"/>
          </a:xfrm>
          <a:prstGeom prst="rect">
            <a:avLst/>
          </a:prstGeom>
          <a:noFill/>
          <a:ln/>
        </p:spPr>
        <p:txBody>
          <a:bodyPr wrap="none" lIns="0" tIns="0" rIns="0" bIns="0" rtlCol="0" anchor="t"/>
          <a:lstStyle/>
          <a:p>
            <a:pPr marL="0" indent="0" algn="l">
              <a:lnSpc>
                <a:spcPct val="104000"/>
              </a:lnSpc>
              <a:buNone/>
            </a:pPr>
            <a:r>
              <a:rPr lang="en-US" sz="1750" kern="0" spc="-53" dirty="0">
                <a:solidFill>
                  <a:srgbClr val="4C6680"/>
                </a:solidFill>
                <a:latin typeface="DM Sans SemiBold" pitchFamily="34" charset="0"/>
                <a:ea typeface="DM Sans SemiBold" pitchFamily="34" charset="-122"/>
                <a:cs typeface="DM Sans SemiBold" pitchFamily="34" charset="-120"/>
              </a:rPr>
              <a:t>Infrastructure &amp; Security</a:t>
            </a:r>
            <a:endParaRPr lang="en-US" sz="1750" dirty="0"/>
          </a:p>
        </p:txBody>
      </p:sp>
      <p:sp>
        <p:nvSpPr>
          <p:cNvPr id="11" name="Text 7"/>
          <p:cNvSpPr/>
          <p:nvPr/>
        </p:nvSpPr>
        <p:spPr>
          <a:xfrm>
            <a:off x="1409863" y="4239022"/>
            <a:ext cx="9952483" cy="452438"/>
          </a:xfrm>
          <a:prstGeom prst="rect">
            <a:avLst/>
          </a:prstGeom>
          <a:noFill/>
          <a:ln/>
        </p:spPr>
        <p:txBody>
          <a:bodyPr wrap="square" lIns="0" tIns="0" rIns="0" bIns="0" rtlCol="0" anchor="t">
            <a:normAutofit/>
          </a:bodyPr>
          <a:lstStyle/>
          <a:p>
            <a:pPr marL="0" indent="0" algn="l">
              <a:lnSpc>
                <a:spcPct val="127000"/>
              </a:lnSpc>
              <a:buNone/>
            </a:pPr>
            <a:r>
              <a:rPr lang="en-US" sz="1150" kern="0" spc="-23" dirty="0">
                <a:solidFill>
                  <a:srgbClr val="4C6680"/>
                </a:solidFill>
                <a:latin typeface="DM Sans" pitchFamily="34" charset="0"/>
                <a:ea typeface="DM Sans" pitchFamily="34" charset="-122"/>
                <a:cs typeface="DM Sans" pitchFamily="34" charset="-120"/>
              </a:rPr>
              <a:t>Secure all APIs using JWT authentication. Route requests dynamically through an API Gateway acting as the single entry point. Register and discover all microservices through Eureka Server, eliminating fixed IP dependencies between services.</a:t>
            </a:r>
            <a:endParaRPr lang="en-US" sz="1150" dirty="0"/>
          </a:p>
        </p:txBody>
      </p:sp>
      <p:pic>
        <p:nvPicPr>
          <p:cNvPr id="12" name="Image 2"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61475" y="4993283"/>
            <a:ext cx="10868745" cy="1147564"/>
          </a:xfrm>
          <a:prstGeom prst="rect">
            <a:avLst/>
          </a:prstGeom>
        </p:spPr>
      </p:pic>
      <p:sp>
        <p:nvSpPr>
          <p:cNvPr id="13" name="Text 8"/>
          <p:cNvSpPr/>
          <p:nvPr/>
        </p:nvSpPr>
        <p:spPr>
          <a:xfrm>
            <a:off x="866555" y="5427464"/>
            <a:ext cx="223237" cy="279102"/>
          </a:xfrm>
          <a:prstGeom prst="rect">
            <a:avLst/>
          </a:prstGeom>
          <a:noFill/>
          <a:ln/>
        </p:spPr>
        <p:txBody>
          <a:bodyPr wrap="none" lIns="0" tIns="0" rIns="0" bIns="0" rtlCol="0" anchor="ctr"/>
          <a:lstStyle/>
          <a:p>
            <a:pPr marL="0" indent="0" algn="ctr">
              <a:lnSpc>
                <a:spcPct val="100000"/>
              </a:lnSpc>
              <a:buNone/>
            </a:pPr>
            <a:r>
              <a:rPr lang="en-US" sz="1750" kern="0" spc="-53" dirty="0">
                <a:solidFill>
                  <a:srgbClr val="4C6680"/>
                </a:solidFill>
                <a:latin typeface="DM Sans SemiBold" pitchFamily="34" charset="0"/>
                <a:ea typeface="DM Sans SemiBold" pitchFamily="34" charset="-122"/>
                <a:cs typeface="DM Sans SemiBold" pitchFamily="34" charset="-120"/>
              </a:rPr>
              <a:t>3</a:t>
            </a:r>
            <a:endParaRPr lang="en-US" sz="1750" dirty="0"/>
          </a:p>
        </p:txBody>
      </p:sp>
      <p:sp>
        <p:nvSpPr>
          <p:cNvPr id="14" name="Text 9"/>
          <p:cNvSpPr/>
          <p:nvPr/>
        </p:nvSpPr>
        <p:spPr>
          <a:xfrm>
            <a:off x="1409863" y="5161161"/>
            <a:ext cx="9952483" cy="279003"/>
          </a:xfrm>
          <a:prstGeom prst="rect">
            <a:avLst/>
          </a:prstGeom>
          <a:noFill/>
          <a:ln/>
        </p:spPr>
        <p:txBody>
          <a:bodyPr wrap="none" lIns="0" tIns="0" rIns="0" bIns="0" rtlCol="0" anchor="t"/>
          <a:lstStyle/>
          <a:p>
            <a:pPr marL="0" indent="0" algn="l">
              <a:lnSpc>
                <a:spcPct val="104000"/>
              </a:lnSpc>
              <a:buNone/>
            </a:pPr>
            <a:r>
              <a:rPr lang="en-US" sz="1750" kern="0" spc="-53" dirty="0">
                <a:solidFill>
                  <a:srgbClr val="4C6680"/>
                </a:solidFill>
                <a:latin typeface="DM Sans SemiBold" pitchFamily="34" charset="0"/>
                <a:ea typeface="DM Sans SemiBold" pitchFamily="34" charset="-122"/>
                <a:cs typeface="DM Sans SemiBold" pitchFamily="34" charset="-120"/>
              </a:rPr>
              <a:t>Development &amp; Deployment Tasks</a:t>
            </a:r>
            <a:endParaRPr lang="en-US" sz="1750" dirty="0"/>
          </a:p>
        </p:txBody>
      </p:sp>
      <p:sp>
        <p:nvSpPr>
          <p:cNvPr id="15" name="Text 10"/>
          <p:cNvSpPr/>
          <p:nvPr/>
        </p:nvSpPr>
        <p:spPr>
          <a:xfrm>
            <a:off x="1409863" y="5520531"/>
            <a:ext cx="9952483" cy="452438"/>
          </a:xfrm>
          <a:prstGeom prst="rect">
            <a:avLst/>
          </a:prstGeom>
          <a:noFill/>
          <a:ln/>
        </p:spPr>
        <p:txBody>
          <a:bodyPr wrap="square" lIns="0" tIns="0" rIns="0" bIns="0" rtlCol="0" anchor="t">
            <a:normAutofit/>
          </a:bodyPr>
          <a:lstStyle/>
          <a:p>
            <a:pPr marL="0" indent="0" algn="l">
              <a:lnSpc>
                <a:spcPct val="127000"/>
              </a:lnSpc>
              <a:buNone/>
            </a:pPr>
            <a:r>
              <a:rPr lang="en-US" sz="1150" kern="0" spc="-23" dirty="0">
                <a:solidFill>
                  <a:srgbClr val="4C6680"/>
                </a:solidFill>
                <a:latin typeface="DM Sans" pitchFamily="34" charset="0"/>
                <a:ea typeface="DM Sans" pitchFamily="34" charset="-122"/>
                <a:cs typeface="DM Sans" pitchFamily="34" charset="-120"/>
              </a:rPr>
              <a:t>Design Room, Booking, and User services. Implement availability APIs, reservation and cancellation logic, and inter-service communication. Perform end-to-end testing of workflows from login through booking to cancellation, then deploy and verify all services operate correctly together.</a:t>
            </a:r>
            <a:endParaRPr lang="en-US" sz="1150" dirty="0"/>
          </a:p>
        </p:txBody>
      </p:sp>
      <p:sp>
        <p:nvSpPr>
          <p:cNvPr id="17" name="Rectangle 16">
            <a:extLst>
              <a:ext uri="{FF2B5EF4-FFF2-40B4-BE49-F238E27FC236}">
                <a16:creationId xmlns:a16="http://schemas.microsoft.com/office/drawing/2014/main" id="{1AF76CA9-EC59-A870-624D-94AA788613D2}"/>
              </a:ext>
            </a:extLst>
          </p:cNvPr>
          <p:cNvSpPr/>
          <p:nvPr/>
        </p:nvSpPr>
        <p:spPr>
          <a:xfrm>
            <a:off x="10951722" y="6391470"/>
            <a:ext cx="1156996" cy="39750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p:cNvPicPr>
            <a:picLocks noChangeAspect="1"/>
          </p:cNvPicPr>
          <p:nvPr/>
        </p:nvPicPr>
        <p:blipFill>
          <a:blip r:embed="rId3"/>
          <a:stretch>
            <a:fillRect/>
          </a:stretch>
        </p:blipFill>
        <p:spPr>
          <a:xfrm>
            <a:off x="0" y="0"/>
            <a:ext cx="12191695" cy="2083891"/>
          </a:xfrm>
          <a:custGeom>
            <a:avLst/>
            <a:gdLst/>
            <a:ahLst/>
            <a:cxnLst/>
            <a:rect l="0" t="0" r="100000" b="100000"/>
            <a:pathLst>
              <a:path w="100000" h="100000">
                <a:moveTo>
                  <a:pt x="0" y="0"/>
                </a:moveTo>
                <a:lnTo>
                  <a:pt x="100000" y="0"/>
                </a:lnTo>
                <a:lnTo>
                  <a:pt x="100000" y="99020"/>
                </a:lnTo>
                <a:lnTo>
                  <a:pt x="95120" y="95800"/>
                </a:lnTo>
                <a:lnTo>
                  <a:pt x="91020" y="93460"/>
                </a:lnTo>
                <a:lnTo>
                  <a:pt x="89650" y="92870"/>
                </a:lnTo>
                <a:lnTo>
                  <a:pt x="89550" y="92680"/>
                </a:lnTo>
                <a:lnTo>
                  <a:pt x="83980" y="90040"/>
                </a:lnTo>
                <a:lnTo>
                  <a:pt x="78810" y="87990"/>
                </a:lnTo>
                <a:lnTo>
                  <a:pt x="72660" y="86040"/>
                </a:lnTo>
                <a:lnTo>
                  <a:pt x="66020" y="84470"/>
                </a:lnTo>
                <a:lnTo>
                  <a:pt x="60450" y="83590"/>
                </a:lnTo>
                <a:lnTo>
                  <a:pt x="53030" y="83010"/>
                </a:lnTo>
                <a:lnTo>
                  <a:pt x="46970" y="83010"/>
                </a:lnTo>
                <a:lnTo>
                  <a:pt x="39550" y="83590"/>
                </a:lnTo>
                <a:lnTo>
                  <a:pt x="31640" y="84960"/>
                </a:lnTo>
                <a:lnTo>
                  <a:pt x="25000" y="86720"/>
                </a:lnTo>
                <a:lnTo>
                  <a:pt x="19630" y="88570"/>
                </a:lnTo>
                <a:lnTo>
                  <a:pt x="12400" y="91700"/>
                </a:lnTo>
                <a:lnTo>
                  <a:pt x="5370" y="95510"/>
                </a:lnTo>
                <a:lnTo>
                  <a:pt x="0" y="99020"/>
                </a:lnTo>
                <a:close/>
              </a:path>
            </a:pathLst>
          </a:custGeom>
        </p:spPr>
      </p:pic>
      <p:sp>
        <p:nvSpPr>
          <p:cNvPr id="3" name="Text 0"/>
          <p:cNvSpPr/>
          <p:nvPr/>
        </p:nvSpPr>
        <p:spPr>
          <a:xfrm>
            <a:off x="661475" y="2348905"/>
            <a:ext cx="10868745" cy="465138"/>
          </a:xfrm>
          <a:prstGeom prst="rect">
            <a:avLst/>
          </a:prstGeom>
          <a:noFill/>
          <a:ln/>
        </p:spPr>
        <p:txBody>
          <a:bodyPr wrap="none" lIns="0" tIns="0" rIns="0" bIns="0" rtlCol="0" anchor="t"/>
          <a:lstStyle/>
          <a:p>
            <a:pPr marL="0" indent="0" algn="l">
              <a:lnSpc>
                <a:spcPct val="104000"/>
              </a:lnSpc>
              <a:buNone/>
            </a:pPr>
            <a:r>
              <a:rPr lang="en-US" sz="2900" kern="0" spc="-88" dirty="0">
                <a:solidFill>
                  <a:srgbClr val="455A67"/>
                </a:solidFill>
                <a:latin typeface="DM Sans SemiBold" pitchFamily="34" charset="0"/>
                <a:ea typeface="DM Sans SemiBold" pitchFamily="34" charset="-122"/>
                <a:cs typeface="DM Sans SemiBold" pitchFamily="34" charset="-120"/>
              </a:rPr>
              <a:t>Three Core Microservices</a:t>
            </a:r>
            <a:endParaRPr lang="en-US" sz="2900" dirty="0"/>
          </a:p>
        </p:txBody>
      </p:sp>
      <p:sp>
        <p:nvSpPr>
          <p:cNvPr id="4" name="Text 1"/>
          <p:cNvSpPr/>
          <p:nvPr/>
        </p:nvSpPr>
        <p:spPr>
          <a:xfrm>
            <a:off x="661475" y="3014960"/>
            <a:ext cx="11478330" cy="226219"/>
          </a:xfrm>
          <a:prstGeom prst="rect">
            <a:avLst/>
          </a:prstGeom>
          <a:noFill/>
          <a:ln/>
        </p:spPr>
        <p:txBody>
          <a:bodyPr wrap="none" lIns="0" tIns="0" rIns="0" bIns="0" rtlCol="0" anchor="t"/>
          <a:lstStyle/>
          <a:p>
            <a:pPr marL="0" indent="0" algn="l">
              <a:lnSpc>
                <a:spcPct val="127000"/>
              </a:lnSpc>
              <a:buNone/>
            </a:pPr>
            <a:r>
              <a:rPr lang="en-US" sz="1150" kern="0" spc="-23" dirty="0">
                <a:solidFill>
                  <a:srgbClr val="4C6680"/>
                </a:solidFill>
                <a:latin typeface="DM Sans" pitchFamily="34" charset="0"/>
                <a:ea typeface="DM Sans" pitchFamily="34" charset="-122"/>
                <a:cs typeface="DM Sans" pitchFamily="34" charset="-120"/>
              </a:rPr>
              <a:t>Each service owns its own responsibility, APIs, and data — enabling independent deployment, scaling, and resilience across the platform.</a:t>
            </a:r>
            <a:endParaRPr lang="en-US" sz="1150" dirty="0"/>
          </a:p>
        </p:txBody>
      </p:sp>
      <p:sp>
        <p:nvSpPr>
          <p:cNvPr id="5" name="Shape 2"/>
          <p:cNvSpPr/>
          <p:nvPr/>
        </p:nvSpPr>
        <p:spPr>
          <a:xfrm>
            <a:off x="661475" y="3391892"/>
            <a:ext cx="10868745" cy="2977753"/>
          </a:xfrm>
          <a:prstGeom prst="roundRect">
            <a:avLst>
              <a:gd name="adj" fmla="val 750"/>
            </a:avLst>
          </a:prstGeom>
          <a:solidFill>
            <a:srgbClr val="DFE6EC"/>
          </a:solidFill>
          <a:ln/>
        </p:spPr>
      </p:sp>
      <p:sp>
        <p:nvSpPr>
          <p:cNvPr id="6" name="Shape 3"/>
          <p:cNvSpPr/>
          <p:nvPr/>
        </p:nvSpPr>
        <p:spPr>
          <a:xfrm>
            <a:off x="661475" y="3391892"/>
            <a:ext cx="3622882" cy="2977753"/>
          </a:xfrm>
          <a:custGeom>
            <a:avLst/>
            <a:gdLst/>
            <a:ahLst/>
            <a:cxnLst/>
            <a:rect l="l" t="t" r="r" b="b"/>
            <a:pathLst>
              <a:path w="3622882" h="2977753">
                <a:moveTo>
                  <a:pt x="18606" y="0"/>
                </a:moveTo>
                <a:lnTo>
                  <a:pt x="3622882" y="0"/>
                </a:lnTo>
                <a:lnTo>
                  <a:pt x="3622882" y="2977753"/>
                </a:lnTo>
                <a:lnTo>
                  <a:pt x="18606" y="2977753"/>
                </a:lnTo>
                <a:arcTo wR="18606" hR="18607" stAng="5400000" swAng="5400000"/>
                <a:lnTo>
                  <a:pt x="0" y="18607"/>
                </a:lnTo>
                <a:arcTo wR="18606" hR="18607" stAng="10800000" swAng="5400000"/>
                <a:close/>
              </a:path>
            </a:pathLst>
          </a:custGeom>
          <a:solidFill>
            <a:srgbClr val="FAF9F6"/>
          </a:solidFill>
          <a:ln/>
        </p:spPr>
      </p:sp>
      <p:sp>
        <p:nvSpPr>
          <p:cNvPr id="7" name="Text 4"/>
          <p:cNvSpPr/>
          <p:nvPr/>
        </p:nvSpPr>
        <p:spPr>
          <a:xfrm>
            <a:off x="795417" y="3525838"/>
            <a:ext cx="3154085" cy="279003"/>
          </a:xfrm>
          <a:prstGeom prst="rect">
            <a:avLst/>
          </a:prstGeom>
          <a:noFill/>
          <a:ln/>
        </p:spPr>
        <p:txBody>
          <a:bodyPr wrap="none" lIns="0" tIns="0" rIns="0" bIns="0" rtlCol="0" anchor="t"/>
          <a:lstStyle/>
          <a:p>
            <a:pPr marL="0" indent="0" algn="l">
              <a:lnSpc>
                <a:spcPct val="104000"/>
              </a:lnSpc>
              <a:buNone/>
            </a:pPr>
            <a:r>
              <a:rPr lang="en-US" sz="1750" kern="0" spc="-53" dirty="0">
                <a:solidFill>
                  <a:srgbClr val="455A67"/>
                </a:solidFill>
                <a:latin typeface="DM Sans SemiBold" pitchFamily="34" charset="0"/>
                <a:ea typeface="DM Sans SemiBold" pitchFamily="34" charset="-122"/>
                <a:cs typeface="DM Sans SemiBold" pitchFamily="34" charset="-120"/>
              </a:rPr>
              <a:t>User Service</a:t>
            </a:r>
            <a:endParaRPr lang="en-US" sz="1750" dirty="0"/>
          </a:p>
        </p:txBody>
      </p:sp>
      <p:sp>
        <p:nvSpPr>
          <p:cNvPr id="8" name="Shape 5"/>
          <p:cNvSpPr/>
          <p:nvPr/>
        </p:nvSpPr>
        <p:spPr>
          <a:xfrm>
            <a:off x="795417" y="3992761"/>
            <a:ext cx="3154085" cy="19050"/>
          </a:xfrm>
          <a:prstGeom prst="roundRect">
            <a:avLst>
              <a:gd name="adj" fmla="val 49999"/>
            </a:avLst>
          </a:prstGeom>
          <a:solidFill>
            <a:srgbClr val="4C6680">
              <a:alpha val="50000"/>
            </a:srgbClr>
          </a:solidFill>
          <a:ln/>
        </p:spPr>
      </p:sp>
      <p:sp>
        <p:nvSpPr>
          <p:cNvPr id="9" name="Text 6"/>
          <p:cNvSpPr/>
          <p:nvPr/>
        </p:nvSpPr>
        <p:spPr>
          <a:xfrm>
            <a:off x="795417" y="4199731"/>
            <a:ext cx="3154085" cy="1357313"/>
          </a:xfrm>
          <a:prstGeom prst="rect">
            <a:avLst/>
          </a:prstGeom>
          <a:noFill/>
          <a:ln/>
        </p:spPr>
        <p:txBody>
          <a:bodyPr wrap="square" lIns="0" tIns="0" rIns="0" bIns="0" rtlCol="0" anchor="t">
            <a:normAutofit/>
          </a:bodyPr>
          <a:lstStyle/>
          <a:p>
            <a:pPr marL="0" indent="0" algn="l">
              <a:lnSpc>
                <a:spcPct val="127000"/>
              </a:lnSpc>
              <a:buNone/>
            </a:pPr>
            <a:r>
              <a:rPr lang="en-US" sz="1150" kern="0" spc="-23" dirty="0">
                <a:solidFill>
                  <a:srgbClr val="455A67"/>
                </a:solidFill>
                <a:latin typeface="DM Sans" pitchFamily="34" charset="0"/>
                <a:ea typeface="DM Sans" pitchFamily="34" charset="-122"/>
                <a:cs typeface="DM Sans" pitchFamily="34" charset="-120"/>
              </a:rPr>
              <a:t>Manages customer accounts and authentication. Handles user registration, login, profile management, password validation, JWT token generation, and user authorization. Exposes POST /users/register, POST /users/login, and GET /users/profile.</a:t>
            </a:r>
            <a:endParaRPr lang="en-US" sz="1150" dirty="0"/>
          </a:p>
        </p:txBody>
      </p:sp>
      <p:sp>
        <p:nvSpPr>
          <p:cNvPr id="10" name="Shape 7"/>
          <p:cNvSpPr/>
          <p:nvPr/>
        </p:nvSpPr>
        <p:spPr>
          <a:xfrm>
            <a:off x="4284357" y="3391892"/>
            <a:ext cx="3622882" cy="2977753"/>
          </a:xfrm>
          <a:prstGeom prst="rect">
            <a:avLst/>
          </a:prstGeom>
          <a:solidFill>
            <a:srgbClr val="FAF9F6"/>
          </a:solidFill>
          <a:ln/>
        </p:spPr>
      </p:sp>
      <p:sp>
        <p:nvSpPr>
          <p:cNvPr id="11" name="Shape 8"/>
          <p:cNvSpPr/>
          <p:nvPr/>
        </p:nvSpPr>
        <p:spPr>
          <a:xfrm>
            <a:off x="4284357" y="3391892"/>
            <a:ext cx="19050" cy="2977753"/>
          </a:xfrm>
          <a:prstGeom prst="roundRect">
            <a:avLst>
              <a:gd name="adj" fmla="val 49999"/>
            </a:avLst>
          </a:prstGeom>
          <a:solidFill>
            <a:srgbClr val="E0DFDC"/>
          </a:solidFill>
          <a:ln/>
        </p:spPr>
      </p:sp>
      <p:sp>
        <p:nvSpPr>
          <p:cNvPr id="12" name="Text 9"/>
          <p:cNvSpPr/>
          <p:nvPr/>
        </p:nvSpPr>
        <p:spPr>
          <a:xfrm>
            <a:off x="4619212" y="3525838"/>
            <a:ext cx="2953172" cy="279003"/>
          </a:xfrm>
          <a:prstGeom prst="rect">
            <a:avLst/>
          </a:prstGeom>
          <a:noFill/>
          <a:ln/>
        </p:spPr>
        <p:txBody>
          <a:bodyPr wrap="none" lIns="0" tIns="0" rIns="0" bIns="0" rtlCol="0" anchor="t"/>
          <a:lstStyle/>
          <a:p>
            <a:pPr marL="0" indent="0" algn="l">
              <a:lnSpc>
                <a:spcPct val="104000"/>
              </a:lnSpc>
              <a:buNone/>
            </a:pPr>
            <a:r>
              <a:rPr lang="en-US" sz="1750" kern="0" spc="-53" dirty="0">
                <a:solidFill>
                  <a:srgbClr val="455A67"/>
                </a:solidFill>
                <a:latin typeface="DM Sans SemiBold" pitchFamily="34" charset="0"/>
                <a:ea typeface="DM Sans SemiBold" pitchFamily="34" charset="-122"/>
                <a:cs typeface="DM Sans SemiBold" pitchFamily="34" charset="-120"/>
              </a:rPr>
              <a:t>Room Service</a:t>
            </a:r>
            <a:endParaRPr lang="en-US" sz="1750" dirty="0"/>
          </a:p>
        </p:txBody>
      </p:sp>
      <p:sp>
        <p:nvSpPr>
          <p:cNvPr id="13" name="Shape 10"/>
          <p:cNvSpPr/>
          <p:nvPr/>
        </p:nvSpPr>
        <p:spPr>
          <a:xfrm>
            <a:off x="4619212" y="3992761"/>
            <a:ext cx="2953172" cy="19050"/>
          </a:xfrm>
          <a:prstGeom prst="roundRect">
            <a:avLst>
              <a:gd name="adj" fmla="val 49999"/>
            </a:avLst>
          </a:prstGeom>
          <a:solidFill>
            <a:srgbClr val="4C6680">
              <a:alpha val="50000"/>
            </a:srgbClr>
          </a:solidFill>
          <a:ln/>
        </p:spPr>
      </p:sp>
      <p:sp>
        <p:nvSpPr>
          <p:cNvPr id="14" name="Text 11"/>
          <p:cNvSpPr/>
          <p:nvPr/>
        </p:nvSpPr>
        <p:spPr>
          <a:xfrm>
            <a:off x="4619212" y="4199731"/>
            <a:ext cx="2953172" cy="1583531"/>
          </a:xfrm>
          <a:prstGeom prst="rect">
            <a:avLst/>
          </a:prstGeom>
          <a:noFill/>
          <a:ln/>
        </p:spPr>
        <p:txBody>
          <a:bodyPr wrap="square" lIns="0" tIns="0" rIns="0" bIns="0" rtlCol="0" anchor="t">
            <a:normAutofit/>
          </a:bodyPr>
          <a:lstStyle/>
          <a:p>
            <a:pPr marL="0" indent="0" algn="l">
              <a:lnSpc>
                <a:spcPct val="127000"/>
              </a:lnSpc>
              <a:buNone/>
            </a:pPr>
            <a:r>
              <a:rPr lang="en-US" sz="1150" kern="0" spc="-23" dirty="0">
                <a:solidFill>
                  <a:srgbClr val="455A67"/>
                </a:solidFill>
                <a:latin typeface="DM Sans" pitchFamily="34" charset="0"/>
                <a:ea typeface="DM Sans" pitchFamily="34" charset="-122"/>
                <a:cs typeface="DM Sans" pitchFamily="34" charset="-120"/>
              </a:rPr>
              <a:t>Manages room information and inventory. Supports adding rooms, updating room details, searching rooms, checking real-time availability, and updating availability. Exposes GET /rooms, GET /rooms/{roomId}, GET /rooms/availability, POST /rooms, and PUT /rooms/{roomId}.</a:t>
            </a:r>
            <a:endParaRPr lang="en-US" sz="1150" dirty="0"/>
          </a:p>
        </p:txBody>
      </p:sp>
      <p:sp>
        <p:nvSpPr>
          <p:cNvPr id="15" name="Shape 12"/>
          <p:cNvSpPr/>
          <p:nvPr/>
        </p:nvSpPr>
        <p:spPr>
          <a:xfrm>
            <a:off x="7907239" y="3391892"/>
            <a:ext cx="3622882" cy="2977753"/>
          </a:xfrm>
          <a:custGeom>
            <a:avLst/>
            <a:gdLst/>
            <a:ahLst/>
            <a:cxnLst/>
            <a:rect l="l" t="t" r="r" b="b"/>
            <a:pathLst>
              <a:path w="3622882" h="2977753">
                <a:moveTo>
                  <a:pt x="0" y="0"/>
                </a:moveTo>
                <a:lnTo>
                  <a:pt x="3604276" y="0"/>
                </a:lnTo>
                <a:arcTo wR="18606" hR="18607" stAng="16200000" swAng="5400000"/>
                <a:lnTo>
                  <a:pt x="3622882" y="2959146"/>
                </a:lnTo>
                <a:arcTo wR="18606" hR="18607" stAng="0" swAng="5400000"/>
                <a:lnTo>
                  <a:pt x="0" y="2977753"/>
                </a:lnTo>
                <a:lnTo>
                  <a:pt x="0" y="0"/>
                </a:lnTo>
                <a:close/>
              </a:path>
            </a:pathLst>
          </a:custGeom>
          <a:solidFill>
            <a:srgbClr val="FAF9F6"/>
          </a:solidFill>
          <a:ln/>
        </p:spPr>
      </p:sp>
      <p:sp>
        <p:nvSpPr>
          <p:cNvPr id="16" name="Shape 13"/>
          <p:cNvSpPr/>
          <p:nvPr/>
        </p:nvSpPr>
        <p:spPr>
          <a:xfrm>
            <a:off x="7907239" y="3391892"/>
            <a:ext cx="19050" cy="2977753"/>
          </a:xfrm>
          <a:prstGeom prst="roundRect">
            <a:avLst>
              <a:gd name="adj" fmla="val 49999"/>
            </a:avLst>
          </a:prstGeom>
          <a:solidFill>
            <a:srgbClr val="E0DFDC"/>
          </a:solidFill>
          <a:ln/>
        </p:spPr>
      </p:sp>
      <p:sp>
        <p:nvSpPr>
          <p:cNvPr id="17" name="Text 14"/>
          <p:cNvSpPr/>
          <p:nvPr/>
        </p:nvSpPr>
        <p:spPr>
          <a:xfrm>
            <a:off x="8242094" y="3525838"/>
            <a:ext cx="3154085" cy="279003"/>
          </a:xfrm>
          <a:prstGeom prst="rect">
            <a:avLst/>
          </a:prstGeom>
          <a:noFill/>
          <a:ln/>
        </p:spPr>
        <p:txBody>
          <a:bodyPr wrap="none" lIns="0" tIns="0" rIns="0" bIns="0" rtlCol="0" anchor="t"/>
          <a:lstStyle/>
          <a:p>
            <a:pPr marL="0" indent="0" algn="l">
              <a:lnSpc>
                <a:spcPct val="104000"/>
              </a:lnSpc>
              <a:buNone/>
            </a:pPr>
            <a:r>
              <a:rPr lang="en-US" sz="1750" kern="0" spc="-53" dirty="0">
                <a:solidFill>
                  <a:srgbClr val="455A67"/>
                </a:solidFill>
                <a:latin typeface="DM Sans SemiBold" pitchFamily="34" charset="0"/>
                <a:ea typeface="DM Sans SemiBold" pitchFamily="34" charset="-122"/>
                <a:cs typeface="DM Sans SemiBold" pitchFamily="34" charset="-120"/>
              </a:rPr>
              <a:t>Booking Service</a:t>
            </a:r>
            <a:endParaRPr lang="en-US" sz="1750" dirty="0"/>
          </a:p>
        </p:txBody>
      </p:sp>
      <p:sp>
        <p:nvSpPr>
          <p:cNvPr id="18" name="Shape 15"/>
          <p:cNvSpPr/>
          <p:nvPr/>
        </p:nvSpPr>
        <p:spPr>
          <a:xfrm>
            <a:off x="8242094" y="3992761"/>
            <a:ext cx="3154085" cy="19050"/>
          </a:xfrm>
          <a:prstGeom prst="roundRect">
            <a:avLst>
              <a:gd name="adj" fmla="val 49999"/>
            </a:avLst>
          </a:prstGeom>
          <a:solidFill>
            <a:srgbClr val="4C6680">
              <a:alpha val="50000"/>
            </a:srgbClr>
          </a:solidFill>
          <a:ln/>
        </p:spPr>
      </p:sp>
      <p:sp>
        <p:nvSpPr>
          <p:cNvPr id="19" name="Text 16"/>
          <p:cNvSpPr/>
          <p:nvPr/>
        </p:nvSpPr>
        <p:spPr>
          <a:xfrm>
            <a:off x="8242094" y="4199731"/>
            <a:ext cx="3154085" cy="2035969"/>
          </a:xfrm>
          <a:prstGeom prst="rect">
            <a:avLst/>
          </a:prstGeom>
          <a:noFill/>
          <a:ln/>
        </p:spPr>
        <p:txBody>
          <a:bodyPr wrap="square" lIns="0" tIns="0" rIns="0" bIns="0" rtlCol="0" anchor="t">
            <a:normAutofit/>
          </a:bodyPr>
          <a:lstStyle/>
          <a:p>
            <a:pPr marL="0" indent="0" algn="l">
              <a:lnSpc>
                <a:spcPct val="127000"/>
              </a:lnSpc>
              <a:buNone/>
            </a:pPr>
            <a:r>
              <a:rPr lang="en-US" sz="1150" kern="0" spc="-23" dirty="0">
                <a:solidFill>
                  <a:srgbClr val="455A67"/>
                </a:solidFill>
                <a:latin typeface="DM Sans" pitchFamily="34" charset="0"/>
                <a:ea typeface="DM Sans" pitchFamily="34" charset="-122"/>
                <a:cs typeface="DM Sans" pitchFamily="34" charset="-120"/>
              </a:rPr>
              <a:t>Manages the complete reservation lifecycle. Creates bookings, validates dates, prevents double booking, stores reservation data, allows viewing and cancellation, updates booking status, and communicates with Room Service. Exposes POST /bookings, GET /bookings/{bookingId}, GET /bookings/user/{userId}, and DELETE /bookings/{bookingId}.</a:t>
            </a:r>
            <a:endParaRPr lang="en-US" sz="1150" dirty="0"/>
          </a:p>
        </p:txBody>
      </p:sp>
      <p:sp>
        <p:nvSpPr>
          <p:cNvPr id="20" name="Shape 17"/>
          <p:cNvSpPr/>
          <p:nvPr/>
        </p:nvSpPr>
        <p:spPr>
          <a:xfrm>
            <a:off x="4098326" y="4694734"/>
            <a:ext cx="372061" cy="372070"/>
          </a:xfrm>
          <a:prstGeom prst="roundRect">
            <a:avLst>
              <a:gd name="adj" fmla="val 6001"/>
            </a:avLst>
          </a:prstGeom>
          <a:solidFill>
            <a:srgbClr val="FAF9F6"/>
          </a:solidFill>
          <a:ln w="19050">
            <a:solidFill>
              <a:srgbClr val="E0DFDC"/>
            </a:solidFill>
            <a:prstDash val="solid"/>
          </a:ln>
        </p:spPr>
      </p:sp>
      <p:pic>
        <p:nvPicPr>
          <p:cNvPr id="21"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191292" y="4787702"/>
            <a:ext cx="186031" cy="186035"/>
          </a:xfrm>
          <a:prstGeom prst="rect">
            <a:avLst/>
          </a:prstGeom>
        </p:spPr>
      </p:pic>
      <p:sp>
        <p:nvSpPr>
          <p:cNvPr id="22" name="Shape 18"/>
          <p:cNvSpPr/>
          <p:nvPr/>
        </p:nvSpPr>
        <p:spPr>
          <a:xfrm>
            <a:off x="7721208" y="4694734"/>
            <a:ext cx="372061" cy="372070"/>
          </a:xfrm>
          <a:prstGeom prst="roundRect">
            <a:avLst>
              <a:gd name="adj" fmla="val 6001"/>
            </a:avLst>
          </a:prstGeom>
          <a:solidFill>
            <a:srgbClr val="FAF9F6"/>
          </a:solidFill>
          <a:ln w="19050">
            <a:solidFill>
              <a:srgbClr val="E0DFDC"/>
            </a:solidFill>
            <a:prstDash val="solid"/>
          </a:ln>
        </p:spPr>
      </p:sp>
      <p:pic>
        <p:nvPicPr>
          <p:cNvPr id="23"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7814174" y="4787702"/>
            <a:ext cx="186031" cy="186035"/>
          </a:xfrm>
          <a:prstGeom prst="rect">
            <a:avLst/>
          </a:prstGeom>
        </p:spPr>
      </p:pic>
      <p:sp>
        <p:nvSpPr>
          <p:cNvPr id="25" name="Rectangle 24">
            <a:extLst>
              <a:ext uri="{FF2B5EF4-FFF2-40B4-BE49-F238E27FC236}">
                <a16:creationId xmlns:a16="http://schemas.microsoft.com/office/drawing/2014/main" id="{8EC58023-F0E1-58AB-DB1B-93F5F725553C}"/>
              </a:ext>
            </a:extLst>
          </p:cNvPr>
          <p:cNvSpPr/>
          <p:nvPr/>
        </p:nvSpPr>
        <p:spPr>
          <a:xfrm>
            <a:off x="10951722" y="6391470"/>
            <a:ext cx="1156996" cy="415508"/>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661475" y="649585"/>
            <a:ext cx="1099217" cy="222647"/>
          </a:xfrm>
          <a:prstGeom prst="roundRect">
            <a:avLst>
              <a:gd name="adj" fmla="val 7897"/>
            </a:avLst>
          </a:prstGeom>
          <a:solidFill>
            <a:srgbClr val="DFE6EC"/>
          </a:solidFill>
          <a:ln/>
        </p:spPr>
      </p:sp>
      <p:pic>
        <p:nvPicPr>
          <p:cNvPr id="3" name="Image 0" descr="preencoded.png"/>
          <p:cNvPicPr>
            <a:picLocks noChangeAspect="1"/>
          </p:cNvPicPr>
          <p:nvPr/>
        </p:nvPicPr>
        <p:blipFill>
          <a:blip r:embed="rId3"/>
          <a:stretch>
            <a:fillRect/>
          </a:stretch>
        </p:blipFill>
        <p:spPr>
          <a:xfrm>
            <a:off x="749380" y="702270"/>
            <a:ext cx="117174" cy="117177"/>
          </a:xfrm>
          <a:prstGeom prst="rect">
            <a:avLst/>
          </a:prstGeom>
        </p:spPr>
      </p:pic>
      <p:sp>
        <p:nvSpPr>
          <p:cNvPr id="4" name="Text 1"/>
          <p:cNvSpPr/>
          <p:nvPr/>
        </p:nvSpPr>
        <p:spPr>
          <a:xfrm>
            <a:off x="925092" y="693539"/>
            <a:ext cx="1357279" cy="134739"/>
          </a:xfrm>
          <a:prstGeom prst="rect">
            <a:avLst/>
          </a:prstGeom>
          <a:noFill/>
          <a:ln/>
        </p:spPr>
        <p:txBody>
          <a:bodyPr wrap="none" lIns="0" tIns="0" rIns="0" bIns="0" rtlCol="0" anchor="t"/>
          <a:lstStyle/>
          <a:p>
            <a:pPr marL="0" indent="0" algn="l">
              <a:lnSpc>
                <a:spcPct val="96000"/>
              </a:lnSpc>
              <a:buNone/>
            </a:pPr>
            <a:r>
              <a:rPr lang="en-US" sz="900" kern="0" spc="-23" dirty="0">
                <a:solidFill>
                  <a:srgbClr val="4C6680"/>
                </a:solidFill>
                <a:latin typeface="DM Sans" pitchFamily="34" charset="0"/>
                <a:ea typeface="DM Sans" pitchFamily="34" charset="-122"/>
                <a:cs typeface="DM Sans" pitchFamily="34" charset="-120"/>
              </a:rPr>
              <a:t>EMPATHY MAP</a:t>
            </a:r>
            <a:endParaRPr lang="en-US" sz="900" dirty="0"/>
          </a:p>
        </p:txBody>
      </p:sp>
      <p:sp>
        <p:nvSpPr>
          <p:cNvPr id="5" name="Text 2"/>
          <p:cNvSpPr/>
          <p:nvPr/>
        </p:nvSpPr>
        <p:spPr>
          <a:xfrm>
            <a:off x="661475" y="924123"/>
            <a:ext cx="10868745" cy="457895"/>
          </a:xfrm>
          <a:prstGeom prst="rect">
            <a:avLst/>
          </a:prstGeom>
          <a:noFill/>
          <a:ln/>
        </p:spPr>
        <p:txBody>
          <a:bodyPr wrap="none" lIns="0" tIns="0" rIns="0" bIns="0" rtlCol="0" anchor="t"/>
          <a:lstStyle/>
          <a:p>
            <a:pPr marL="0" indent="0" algn="l">
              <a:lnSpc>
                <a:spcPct val="104000"/>
              </a:lnSpc>
              <a:buNone/>
            </a:pPr>
            <a:r>
              <a:rPr lang="en-US" sz="2850" kern="0" spc="-87" dirty="0">
                <a:solidFill>
                  <a:srgbClr val="455A67"/>
                </a:solidFill>
                <a:latin typeface="DM Sans SemiBold" pitchFamily="34" charset="0"/>
                <a:ea typeface="DM Sans SemiBold" pitchFamily="34" charset="-122"/>
                <a:cs typeface="DM Sans SemiBold" pitchFamily="34" charset="-120"/>
              </a:rPr>
              <a:t>Understanding the Customer: Rahul Kumar</a:t>
            </a:r>
            <a:endParaRPr lang="en-US" sz="2850" dirty="0"/>
          </a:p>
        </p:txBody>
      </p:sp>
      <p:sp>
        <p:nvSpPr>
          <p:cNvPr id="6" name="Text 3"/>
          <p:cNvSpPr/>
          <p:nvPr/>
        </p:nvSpPr>
        <p:spPr>
          <a:xfrm>
            <a:off x="661475" y="1576685"/>
            <a:ext cx="10868745" cy="588070"/>
          </a:xfrm>
          <a:prstGeom prst="rect">
            <a:avLst/>
          </a:prstGeom>
          <a:noFill/>
          <a:ln/>
        </p:spPr>
        <p:txBody>
          <a:bodyPr wrap="square" lIns="0" tIns="0" rIns="0" bIns="0" rtlCol="0" anchor="t"/>
          <a:lstStyle/>
          <a:p>
            <a:pPr marL="0" indent="0" algn="l">
              <a:lnSpc>
                <a:spcPct val="126000"/>
              </a:lnSpc>
              <a:spcAft>
                <a:spcPts val="1100"/>
              </a:spcAft>
              <a:buNone/>
            </a:pPr>
            <a:r>
              <a:rPr lang="en-US" sz="1150" kern="0" spc="-23" dirty="0">
                <a:solidFill>
                  <a:srgbClr val="4C6680"/>
                </a:solidFill>
                <a:latin typeface="DM Sans" pitchFamily="34" charset="0"/>
                <a:ea typeface="DM Sans" pitchFamily="34" charset="-122"/>
                <a:cs typeface="DM Sans" pitchFamily="34" charset="-120"/>
              </a:rPr>
              <a:t>A survey persona was created to understand customer expectations, thoughts, actions, feelings, pain points, and needs while searching for and booking a hotel room.</a:t>
            </a:r>
            <a:endParaRPr lang="en-US" sz="1150" dirty="0"/>
          </a:p>
        </p:txBody>
      </p:sp>
      <p:pic>
        <p:nvPicPr>
          <p:cNvPr id="7" name="Image 1" descr="preencoded.png"/>
          <p:cNvPicPr>
            <a:picLocks noChangeAspect="1"/>
          </p:cNvPicPr>
          <p:nvPr/>
        </p:nvPicPr>
        <p:blipFill>
          <a:blip r:embed="rId4"/>
          <a:stretch>
            <a:fillRect/>
          </a:stretch>
        </p:blipFill>
        <p:spPr>
          <a:xfrm>
            <a:off x="661475" y="2310705"/>
            <a:ext cx="2277509" cy="2277566"/>
          </a:xfrm>
          <a:prstGeom prst="rect">
            <a:avLst/>
          </a:prstGeom>
        </p:spPr>
      </p:pic>
      <p:sp>
        <p:nvSpPr>
          <p:cNvPr id="8" name="Text 4"/>
          <p:cNvSpPr/>
          <p:nvPr/>
        </p:nvSpPr>
        <p:spPr>
          <a:xfrm>
            <a:off x="661475" y="4750495"/>
            <a:ext cx="3514736" cy="274638"/>
          </a:xfrm>
          <a:prstGeom prst="rect">
            <a:avLst/>
          </a:prstGeom>
          <a:noFill/>
          <a:ln/>
        </p:spPr>
        <p:txBody>
          <a:bodyPr wrap="none" lIns="0" tIns="0" rIns="0" bIns="0" rtlCol="0" anchor="t"/>
          <a:lstStyle/>
          <a:p>
            <a:pPr marL="0" indent="0" algn="l">
              <a:lnSpc>
                <a:spcPct val="104000"/>
              </a:lnSpc>
              <a:buNone/>
            </a:pPr>
            <a:r>
              <a:rPr lang="en-US" sz="1700" kern="0" spc="-52" dirty="0">
                <a:solidFill>
                  <a:srgbClr val="4C6680"/>
                </a:solidFill>
                <a:latin typeface="DM Sans SemiBold" pitchFamily="34" charset="0"/>
                <a:ea typeface="DM Sans SemiBold" pitchFamily="34" charset="-122"/>
                <a:cs typeface="DM Sans SemiBold" pitchFamily="34" charset="-120"/>
              </a:rPr>
              <a:t>Says &amp; Thinks</a:t>
            </a:r>
            <a:endParaRPr lang="en-US" sz="1700" dirty="0"/>
          </a:p>
        </p:txBody>
      </p:sp>
      <p:sp>
        <p:nvSpPr>
          <p:cNvPr id="9" name="Text 5"/>
          <p:cNvSpPr/>
          <p:nvPr/>
        </p:nvSpPr>
        <p:spPr>
          <a:xfrm>
            <a:off x="661475" y="5103019"/>
            <a:ext cx="3514736" cy="884238"/>
          </a:xfrm>
          <a:prstGeom prst="rect">
            <a:avLst/>
          </a:prstGeom>
          <a:noFill/>
          <a:ln/>
        </p:spPr>
        <p:txBody>
          <a:bodyPr wrap="square" lIns="0" tIns="0" rIns="0" bIns="0" rtlCol="0" anchor="t">
            <a:normAutofit/>
          </a:bodyPr>
          <a:lstStyle/>
          <a:p>
            <a:pPr marL="0" indent="0" algn="l">
              <a:lnSpc>
                <a:spcPct val="126000"/>
              </a:lnSpc>
              <a:buNone/>
            </a:pPr>
            <a:r>
              <a:rPr lang="en-US" sz="1150" kern="0" spc="-23" dirty="0">
                <a:solidFill>
                  <a:srgbClr val="4C6680"/>
                </a:solidFill>
                <a:latin typeface="DM Sans" pitchFamily="34" charset="0"/>
                <a:ea typeface="DM Sans" pitchFamily="34" charset="-122"/>
                <a:cs typeface="DM Sans" pitchFamily="34" charset="-120"/>
              </a:rPr>
              <a:t>"I want to see available rooms before booking." "Is this room really available?" "I don't want my booking to fail after payment." Customers demand accuracy and want real-time status at every step.</a:t>
            </a:r>
            <a:endParaRPr lang="en-US" sz="1150" dirty="0"/>
          </a:p>
        </p:txBody>
      </p:sp>
      <p:pic>
        <p:nvPicPr>
          <p:cNvPr id="10" name="Image 2" descr="preencoded.png"/>
          <p:cNvPicPr>
            <a:picLocks noChangeAspect="1"/>
          </p:cNvPicPr>
          <p:nvPr/>
        </p:nvPicPr>
        <p:blipFill>
          <a:blip r:embed="rId5"/>
          <a:stretch>
            <a:fillRect/>
          </a:stretch>
        </p:blipFill>
        <p:spPr>
          <a:xfrm>
            <a:off x="4338430" y="2310705"/>
            <a:ext cx="2277509" cy="2277566"/>
          </a:xfrm>
          <a:prstGeom prst="rect">
            <a:avLst/>
          </a:prstGeom>
        </p:spPr>
      </p:pic>
      <p:sp>
        <p:nvSpPr>
          <p:cNvPr id="11" name="Text 6"/>
          <p:cNvSpPr/>
          <p:nvPr/>
        </p:nvSpPr>
        <p:spPr>
          <a:xfrm>
            <a:off x="4338430" y="4750495"/>
            <a:ext cx="3514736" cy="274638"/>
          </a:xfrm>
          <a:prstGeom prst="rect">
            <a:avLst/>
          </a:prstGeom>
          <a:noFill/>
          <a:ln/>
        </p:spPr>
        <p:txBody>
          <a:bodyPr wrap="none" lIns="0" tIns="0" rIns="0" bIns="0" rtlCol="0" anchor="t"/>
          <a:lstStyle/>
          <a:p>
            <a:pPr marL="0" indent="0" algn="l">
              <a:lnSpc>
                <a:spcPct val="104000"/>
              </a:lnSpc>
              <a:buNone/>
            </a:pPr>
            <a:r>
              <a:rPr lang="en-US" sz="1700" kern="0" spc="-52" dirty="0">
                <a:solidFill>
                  <a:srgbClr val="4C6680"/>
                </a:solidFill>
                <a:latin typeface="DM Sans SemiBold" pitchFamily="34" charset="0"/>
                <a:ea typeface="DM Sans SemiBold" pitchFamily="34" charset="-122"/>
                <a:cs typeface="DM Sans SemiBold" pitchFamily="34" charset="-120"/>
              </a:rPr>
              <a:t>Feels &amp; Does</a:t>
            </a:r>
            <a:endParaRPr lang="en-US" sz="1700" dirty="0"/>
          </a:p>
        </p:txBody>
      </p:sp>
      <p:sp>
        <p:nvSpPr>
          <p:cNvPr id="12" name="Text 7"/>
          <p:cNvSpPr/>
          <p:nvPr/>
        </p:nvSpPr>
        <p:spPr>
          <a:xfrm>
            <a:off x="4338430" y="5103019"/>
            <a:ext cx="3514736" cy="1105297"/>
          </a:xfrm>
          <a:prstGeom prst="rect">
            <a:avLst/>
          </a:prstGeom>
          <a:noFill/>
          <a:ln/>
        </p:spPr>
        <p:txBody>
          <a:bodyPr wrap="square" lIns="0" tIns="0" rIns="0" bIns="0" rtlCol="0" anchor="t">
            <a:normAutofit/>
          </a:bodyPr>
          <a:lstStyle/>
          <a:p>
            <a:pPr marL="0" indent="0" algn="l">
              <a:lnSpc>
                <a:spcPct val="126000"/>
              </a:lnSpc>
              <a:buNone/>
            </a:pPr>
            <a:r>
              <a:rPr lang="en-US" sz="1150" kern="0" spc="-23" dirty="0">
                <a:solidFill>
                  <a:srgbClr val="4C6680"/>
                </a:solidFill>
                <a:latin typeface="DM Sans" pitchFamily="34" charset="0"/>
                <a:ea typeface="DM Sans" pitchFamily="34" charset="-122"/>
                <a:cs typeface="DM Sans" pitchFamily="34" charset="-120"/>
              </a:rPr>
              <a:t>Customers feel confident when availability is accurate, happy after successful booking, and relieved when cancellation is simple. They search rooms, select dates, compare options, book, confirm, and cancel when necessary.</a:t>
            </a:r>
            <a:endParaRPr lang="en-US" sz="1150" dirty="0"/>
          </a:p>
        </p:txBody>
      </p:sp>
      <p:pic>
        <p:nvPicPr>
          <p:cNvPr id="13" name="Image 3" descr="preencoded.png"/>
          <p:cNvPicPr>
            <a:picLocks noChangeAspect="1"/>
          </p:cNvPicPr>
          <p:nvPr/>
        </p:nvPicPr>
        <p:blipFill>
          <a:blip r:embed="rId6"/>
          <a:stretch>
            <a:fillRect/>
          </a:stretch>
        </p:blipFill>
        <p:spPr>
          <a:xfrm>
            <a:off x="8015385" y="2310705"/>
            <a:ext cx="2277509" cy="2277566"/>
          </a:xfrm>
          <a:prstGeom prst="rect">
            <a:avLst/>
          </a:prstGeom>
        </p:spPr>
      </p:pic>
      <p:sp>
        <p:nvSpPr>
          <p:cNvPr id="14" name="Text 8"/>
          <p:cNvSpPr/>
          <p:nvPr/>
        </p:nvSpPr>
        <p:spPr>
          <a:xfrm>
            <a:off x="8015385" y="4750495"/>
            <a:ext cx="3514736" cy="274638"/>
          </a:xfrm>
          <a:prstGeom prst="rect">
            <a:avLst/>
          </a:prstGeom>
          <a:noFill/>
          <a:ln/>
        </p:spPr>
        <p:txBody>
          <a:bodyPr wrap="none" lIns="0" tIns="0" rIns="0" bIns="0" rtlCol="0" anchor="t"/>
          <a:lstStyle/>
          <a:p>
            <a:pPr marL="0" indent="0" algn="l">
              <a:lnSpc>
                <a:spcPct val="104000"/>
              </a:lnSpc>
              <a:buNone/>
            </a:pPr>
            <a:r>
              <a:rPr lang="en-US" sz="1700" kern="0" spc="-52" dirty="0">
                <a:solidFill>
                  <a:srgbClr val="4C6680"/>
                </a:solidFill>
                <a:latin typeface="DM Sans SemiBold" pitchFamily="34" charset="0"/>
                <a:ea typeface="DM Sans SemiBold" pitchFamily="34" charset="-122"/>
                <a:cs typeface="DM Sans SemiBold" pitchFamily="34" charset="-120"/>
              </a:rPr>
              <a:t>Pain Points &amp; Needs</a:t>
            </a:r>
            <a:endParaRPr lang="en-US" sz="1700" dirty="0"/>
          </a:p>
        </p:txBody>
      </p:sp>
      <p:sp>
        <p:nvSpPr>
          <p:cNvPr id="15" name="Text 9"/>
          <p:cNvSpPr/>
          <p:nvPr/>
        </p:nvSpPr>
        <p:spPr>
          <a:xfrm>
            <a:off x="8015385" y="5103019"/>
            <a:ext cx="3514736" cy="1105297"/>
          </a:xfrm>
          <a:prstGeom prst="rect">
            <a:avLst/>
          </a:prstGeom>
          <a:noFill/>
          <a:ln/>
        </p:spPr>
        <p:txBody>
          <a:bodyPr wrap="square" lIns="0" tIns="0" rIns="0" bIns="0" rtlCol="0" anchor="t">
            <a:normAutofit/>
          </a:bodyPr>
          <a:lstStyle/>
          <a:p>
            <a:pPr marL="0" indent="0" algn="l">
              <a:lnSpc>
                <a:spcPct val="126000"/>
              </a:lnSpc>
              <a:buNone/>
            </a:pPr>
            <a:r>
              <a:rPr lang="en-US" sz="1150" kern="0" spc="-23" dirty="0">
                <a:solidFill>
                  <a:srgbClr val="4C6680"/>
                </a:solidFill>
                <a:latin typeface="DM Sans" pitchFamily="34" charset="0"/>
                <a:ea typeface="DM Sans" pitchFamily="34" charset="-122"/>
                <a:cs typeface="DM Sans" pitchFamily="34" charset="-120"/>
              </a:rPr>
              <a:t>Major pain points: incorrect availability, double-booking risk, slow responses, complicated cancellation, and service failures during high demand. Needs: real-time availability, fast search, secure login, immediate confirmation, and no double booking.</a:t>
            </a:r>
            <a:endParaRPr lang="en-US" sz="1150" dirty="0"/>
          </a:p>
        </p:txBody>
      </p:sp>
      <p:sp>
        <p:nvSpPr>
          <p:cNvPr id="17" name="Rectangle 16">
            <a:extLst>
              <a:ext uri="{FF2B5EF4-FFF2-40B4-BE49-F238E27FC236}">
                <a16:creationId xmlns:a16="http://schemas.microsoft.com/office/drawing/2014/main" id="{57EE3F7A-5F2A-07AC-CAE7-66D5DE6965A1}"/>
              </a:ext>
            </a:extLst>
          </p:cNvPr>
          <p:cNvSpPr/>
          <p:nvPr/>
        </p:nvSpPr>
        <p:spPr>
          <a:xfrm>
            <a:off x="10951722" y="6391470"/>
            <a:ext cx="1156996" cy="42151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661475" y="587375"/>
            <a:ext cx="955949" cy="185539"/>
          </a:xfrm>
          <a:prstGeom prst="roundRect">
            <a:avLst>
              <a:gd name="adj" fmla="val 7897"/>
            </a:avLst>
          </a:prstGeom>
          <a:solidFill>
            <a:srgbClr val="DFE6EC"/>
          </a:solidFill>
          <a:ln/>
        </p:spPr>
      </p:sp>
      <p:pic>
        <p:nvPicPr>
          <p:cNvPr id="3" name="Image 0" descr="preencoded.png"/>
          <p:cNvPicPr>
            <a:picLocks noChangeAspect="1"/>
          </p:cNvPicPr>
          <p:nvPr/>
        </p:nvPicPr>
        <p:blipFill>
          <a:blip r:embed="rId3"/>
          <a:stretch>
            <a:fillRect/>
          </a:stretch>
        </p:blipFill>
        <p:spPr>
          <a:xfrm>
            <a:off x="734696" y="631329"/>
            <a:ext cx="97629" cy="97631"/>
          </a:xfrm>
          <a:prstGeom prst="rect">
            <a:avLst/>
          </a:prstGeom>
        </p:spPr>
      </p:pic>
      <p:sp>
        <p:nvSpPr>
          <p:cNvPr id="4" name="Text 1"/>
          <p:cNvSpPr/>
          <p:nvPr/>
        </p:nvSpPr>
        <p:spPr>
          <a:xfrm>
            <a:off x="881140" y="623987"/>
            <a:ext cx="1272647" cy="112316"/>
          </a:xfrm>
          <a:prstGeom prst="rect">
            <a:avLst/>
          </a:prstGeom>
          <a:noFill/>
          <a:ln/>
        </p:spPr>
        <p:txBody>
          <a:bodyPr wrap="none" lIns="0" tIns="0" rIns="0" bIns="0" rtlCol="0" anchor="t"/>
          <a:lstStyle/>
          <a:p>
            <a:pPr marL="0" indent="0" algn="l">
              <a:lnSpc>
                <a:spcPct val="96000"/>
              </a:lnSpc>
              <a:buNone/>
            </a:pPr>
            <a:r>
              <a:rPr lang="en-US" sz="750" kern="0" spc="-19" dirty="0">
                <a:solidFill>
                  <a:srgbClr val="4C6680"/>
                </a:solidFill>
                <a:latin typeface="DM Sans" pitchFamily="34" charset="0"/>
                <a:ea typeface="DM Sans" pitchFamily="34" charset="-122"/>
                <a:cs typeface="DM Sans" pitchFamily="34" charset="-120"/>
              </a:rPr>
              <a:t>ARCHITECTURE</a:t>
            </a:r>
            <a:endParaRPr lang="en-US" sz="750" dirty="0"/>
          </a:p>
        </p:txBody>
      </p:sp>
      <p:sp>
        <p:nvSpPr>
          <p:cNvPr id="5" name="Text 2"/>
          <p:cNvSpPr/>
          <p:nvPr/>
        </p:nvSpPr>
        <p:spPr>
          <a:xfrm>
            <a:off x="661475" y="808930"/>
            <a:ext cx="10868745" cy="381595"/>
          </a:xfrm>
          <a:prstGeom prst="rect">
            <a:avLst/>
          </a:prstGeom>
          <a:noFill/>
          <a:ln/>
        </p:spPr>
        <p:txBody>
          <a:bodyPr wrap="none" lIns="0" tIns="0" rIns="0" bIns="0" rtlCol="0" anchor="t"/>
          <a:lstStyle/>
          <a:p>
            <a:pPr marL="0" indent="0" algn="l">
              <a:lnSpc>
                <a:spcPct val="104000"/>
              </a:lnSpc>
              <a:buNone/>
            </a:pPr>
            <a:r>
              <a:rPr lang="en-US" sz="2400" kern="0" spc="-72" dirty="0">
                <a:solidFill>
                  <a:srgbClr val="455A67"/>
                </a:solidFill>
                <a:latin typeface="DM Sans SemiBold" pitchFamily="34" charset="0"/>
                <a:ea typeface="DM Sans SemiBold" pitchFamily="34" charset="-122"/>
                <a:cs typeface="DM Sans SemiBold" pitchFamily="34" charset="-120"/>
              </a:rPr>
              <a:t>Booking Workflow &amp; System Design</a:t>
            </a:r>
            <a:endParaRPr lang="en-US" sz="2400" dirty="0"/>
          </a:p>
        </p:txBody>
      </p:sp>
      <p:sp>
        <p:nvSpPr>
          <p:cNvPr id="6" name="Text 3"/>
          <p:cNvSpPr/>
          <p:nvPr/>
        </p:nvSpPr>
        <p:spPr>
          <a:xfrm>
            <a:off x="661475" y="1226542"/>
            <a:ext cx="10868745" cy="190698"/>
          </a:xfrm>
          <a:prstGeom prst="rect">
            <a:avLst/>
          </a:prstGeom>
          <a:noFill/>
          <a:ln/>
        </p:spPr>
        <p:txBody>
          <a:bodyPr wrap="none" lIns="0" tIns="0" rIns="0" bIns="0" rtlCol="0" anchor="t"/>
          <a:lstStyle/>
          <a:p>
            <a:pPr marL="0" indent="0" algn="l">
              <a:lnSpc>
                <a:spcPct val="104000"/>
              </a:lnSpc>
              <a:buNone/>
            </a:pPr>
            <a:r>
              <a:rPr lang="en-US" sz="1200" kern="0" spc="-36" dirty="0">
                <a:solidFill>
                  <a:srgbClr val="455A67"/>
                </a:solidFill>
                <a:latin typeface="DM Sans SemiBold" pitchFamily="34" charset="0"/>
                <a:ea typeface="DM Sans SemiBold" pitchFamily="34" charset="-122"/>
                <a:cs typeface="DM Sans SemiBold" pitchFamily="34" charset="-120"/>
              </a:rPr>
              <a:t>End-to-End Customer Journey: Login → Search → Book → Confirm → Cancel</a:t>
            </a:r>
            <a:endParaRPr lang="en-US" sz="1200" dirty="0"/>
          </a:p>
        </p:txBody>
      </p:sp>
      <p:sp>
        <p:nvSpPr>
          <p:cNvPr id="7" name="Shape 4"/>
          <p:cNvSpPr/>
          <p:nvPr/>
        </p:nvSpPr>
        <p:spPr>
          <a:xfrm>
            <a:off x="783610" y="1735534"/>
            <a:ext cx="122036" cy="549374"/>
          </a:xfrm>
          <a:prstGeom prst="roundRect">
            <a:avLst>
              <a:gd name="adj" fmla="val 15009"/>
            </a:avLst>
          </a:prstGeom>
          <a:solidFill>
            <a:srgbClr val="DFE6EC"/>
          </a:solidFill>
          <a:ln/>
        </p:spPr>
      </p:sp>
      <p:sp>
        <p:nvSpPr>
          <p:cNvPr id="8" name="Text 5"/>
          <p:cNvSpPr/>
          <p:nvPr/>
        </p:nvSpPr>
        <p:spPr>
          <a:xfrm>
            <a:off x="1117870" y="1674416"/>
            <a:ext cx="10412350" cy="190698"/>
          </a:xfrm>
          <a:prstGeom prst="rect">
            <a:avLst/>
          </a:prstGeom>
          <a:noFill/>
          <a:ln/>
        </p:spPr>
        <p:txBody>
          <a:bodyPr wrap="none" lIns="0" tIns="0" rIns="0" bIns="0" rtlCol="0" anchor="t"/>
          <a:lstStyle/>
          <a:p>
            <a:pPr marL="0" indent="0" algn="l">
              <a:lnSpc>
                <a:spcPct val="104000"/>
              </a:lnSpc>
              <a:buNone/>
            </a:pPr>
            <a:r>
              <a:rPr lang="en-US" sz="1200" kern="0" spc="-36" dirty="0">
                <a:solidFill>
                  <a:srgbClr val="4C6680"/>
                </a:solidFill>
                <a:latin typeface="DM Sans SemiBold" pitchFamily="34" charset="0"/>
                <a:ea typeface="DM Sans SemiBold" pitchFamily="34" charset="-122"/>
                <a:cs typeface="DM Sans SemiBold" pitchFamily="34" charset="-120"/>
              </a:rPr>
              <a:t>Login &amp; JWT Authentication</a:t>
            </a:r>
            <a:endParaRPr lang="en-US" sz="1200" dirty="0"/>
          </a:p>
        </p:txBody>
      </p:sp>
      <p:sp>
        <p:nvSpPr>
          <p:cNvPr id="9" name="Text 6"/>
          <p:cNvSpPr/>
          <p:nvPr/>
        </p:nvSpPr>
        <p:spPr>
          <a:xfrm>
            <a:off x="1117870" y="1919188"/>
            <a:ext cx="10412350" cy="169763"/>
          </a:xfrm>
          <a:prstGeom prst="rect">
            <a:avLst/>
          </a:prstGeom>
          <a:noFill/>
          <a:ln/>
        </p:spPr>
        <p:txBody>
          <a:bodyPr wrap="none" lIns="0" tIns="0" rIns="0" bIns="0" rtlCol="0" anchor="t"/>
          <a:lstStyle/>
          <a:p>
            <a:pPr marL="0" indent="0" algn="l">
              <a:lnSpc>
                <a:spcPct val="116000"/>
              </a:lnSpc>
              <a:buNone/>
            </a:pPr>
            <a:r>
              <a:rPr lang="en-US" sz="950" kern="0" spc="-19" dirty="0">
                <a:solidFill>
                  <a:srgbClr val="4C6680"/>
                </a:solidFill>
                <a:latin typeface="DM Sans" pitchFamily="34" charset="0"/>
                <a:ea typeface="DM Sans" pitchFamily="34" charset="-122"/>
                <a:cs typeface="DM Sans" pitchFamily="34" charset="-120"/>
              </a:rPr>
              <a:t>Customer logs in via User Service, which validates credentials and generates a JWT token. All subsequent API requests carry this token for secure access.</a:t>
            </a:r>
            <a:endParaRPr lang="en-US" sz="950" dirty="0"/>
          </a:p>
        </p:txBody>
      </p:sp>
      <p:sp>
        <p:nvSpPr>
          <p:cNvPr id="10" name="Shape 7"/>
          <p:cNvSpPr/>
          <p:nvPr/>
        </p:nvSpPr>
        <p:spPr>
          <a:xfrm>
            <a:off x="966763" y="2558256"/>
            <a:ext cx="122036" cy="549374"/>
          </a:xfrm>
          <a:prstGeom prst="roundRect">
            <a:avLst>
              <a:gd name="adj" fmla="val 15009"/>
            </a:avLst>
          </a:prstGeom>
          <a:solidFill>
            <a:srgbClr val="DFE6EC"/>
          </a:solidFill>
          <a:ln/>
        </p:spPr>
      </p:sp>
      <p:sp>
        <p:nvSpPr>
          <p:cNvPr id="11" name="Text 8"/>
          <p:cNvSpPr/>
          <p:nvPr/>
        </p:nvSpPr>
        <p:spPr>
          <a:xfrm>
            <a:off x="1301023" y="2497138"/>
            <a:ext cx="10229197" cy="190698"/>
          </a:xfrm>
          <a:prstGeom prst="rect">
            <a:avLst/>
          </a:prstGeom>
          <a:noFill/>
          <a:ln/>
        </p:spPr>
        <p:txBody>
          <a:bodyPr wrap="none" lIns="0" tIns="0" rIns="0" bIns="0" rtlCol="0" anchor="t"/>
          <a:lstStyle/>
          <a:p>
            <a:pPr marL="0" indent="0" algn="l">
              <a:lnSpc>
                <a:spcPct val="104000"/>
              </a:lnSpc>
              <a:buNone/>
            </a:pPr>
            <a:r>
              <a:rPr lang="en-US" sz="1200" kern="0" spc="-36" dirty="0">
                <a:solidFill>
                  <a:srgbClr val="4C6680"/>
                </a:solidFill>
                <a:latin typeface="DM Sans SemiBold" pitchFamily="34" charset="0"/>
                <a:ea typeface="DM Sans SemiBold" pitchFamily="34" charset="-122"/>
                <a:cs typeface="DM Sans SemiBold" pitchFamily="34" charset="-120"/>
              </a:rPr>
              <a:t>Search &amp; Availability via API Gateway</a:t>
            </a:r>
            <a:endParaRPr lang="en-US" sz="1200" dirty="0"/>
          </a:p>
        </p:txBody>
      </p:sp>
      <p:sp>
        <p:nvSpPr>
          <p:cNvPr id="12" name="Text 9"/>
          <p:cNvSpPr/>
          <p:nvPr/>
        </p:nvSpPr>
        <p:spPr>
          <a:xfrm>
            <a:off x="1301023" y="2741910"/>
            <a:ext cx="10229197" cy="169763"/>
          </a:xfrm>
          <a:prstGeom prst="rect">
            <a:avLst/>
          </a:prstGeom>
          <a:noFill/>
          <a:ln/>
        </p:spPr>
        <p:txBody>
          <a:bodyPr wrap="none" lIns="0" tIns="0" rIns="0" bIns="0" rtlCol="0" anchor="t"/>
          <a:lstStyle/>
          <a:p>
            <a:pPr marL="0" indent="0" algn="l">
              <a:lnSpc>
                <a:spcPct val="116000"/>
              </a:lnSpc>
              <a:buNone/>
            </a:pPr>
            <a:r>
              <a:rPr lang="en-US" sz="950" kern="0" spc="-19" dirty="0">
                <a:solidFill>
                  <a:srgbClr val="4C6680"/>
                </a:solidFill>
                <a:latin typeface="DM Sans" pitchFamily="34" charset="0"/>
                <a:ea typeface="DM Sans" pitchFamily="34" charset="-122"/>
                <a:cs typeface="DM Sans" pitchFamily="34" charset="-120"/>
              </a:rPr>
              <a:t>Requests route through the API Gateway to Room Service, which provides real-time availability. Eureka enables services to discover each other without fixed addresses.</a:t>
            </a:r>
            <a:endParaRPr lang="en-US" sz="950" dirty="0"/>
          </a:p>
        </p:txBody>
      </p:sp>
      <p:sp>
        <p:nvSpPr>
          <p:cNvPr id="13" name="Shape 10"/>
          <p:cNvSpPr/>
          <p:nvPr/>
        </p:nvSpPr>
        <p:spPr>
          <a:xfrm>
            <a:off x="1149917" y="3380978"/>
            <a:ext cx="122036" cy="645120"/>
          </a:xfrm>
          <a:prstGeom prst="roundRect">
            <a:avLst>
              <a:gd name="adj" fmla="val 15009"/>
            </a:avLst>
          </a:prstGeom>
          <a:solidFill>
            <a:srgbClr val="DFE6EC"/>
          </a:solidFill>
          <a:ln/>
        </p:spPr>
      </p:sp>
      <p:sp>
        <p:nvSpPr>
          <p:cNvPr id="14" name="Text 11"/>
          <p:cNvSpPr/>
          <p:nvPr/>
        </p:nvSpPr>
        <p:spPr>
          <a:xfrm>
            <a:off x="1484176" y="3319859"/>
            <a:ext cx="10046044" cy="190698"/>
          </a:xfrm>
          <a:prstGeom prst="rect">
            <a:avLst/>
          </a:prstGeom>
          <a:noFill/>
          <a:ln/>
        </p:spPr>
        <p:txBody>
          <a:bodyPr wrap="none" lIns="0" tIns="0" rIns="0" bIns="0" rtlCol="0" anchor="t"/>
          <a:lstStyle/>
          <a:p>
            <a:pPr marL="0" indent="0" algn="l">
              <a:lnSpc>
                <a:spcPct val="104000"/>
              </a:lnSpc>
              <a:buNone/>
            </a:pPr>
            <a:r>
              <a:rPr lang="en-US" sz="1200" kern="0" spc="-36" dirty="0">
                <a:solidFill>
                  <a:srgbClr val="4C6680"/>
                </a:solidFill>
                <a:latin typeface="DM Sans SemiBold" pitchFamily="34" charset="0"/>
                <a:ea typeface="DM Sans SemiBold" pitchFamily="34" charset="-122"/>
                <a:cs typeface="DM Sans SemiBold" pitchFamily="34" charset="-120"/>
              </a:rPr>
              <a:t>Booking &amp; Double-Booking Prevention</a:t>
            </a:r>
            <a:endParaRPr lang="en-US" sz="1200" dirty="0"/>
          </a:p>
        </p:txBody>
      </p:sp>
      <p:sp>
        <p:nvSpPr>
          <p:cNvPr id="15" name="Text 12"/>
          <p:cNvSpPr/>
          <p:nvPr/>
        </p:nvSpPr>
        <p:spPr>
          <a:xfrm>
            <a:off x="1484176" y="3564632"/>
            <a:ext cx="10046044" cy="339527"/>
          </a:xfrm>
          <a:prstGeom prst="rect">
            <a:avLst/>
          </a:prstGeom>
          <a:noFill/>
          <a:ln/>
        </p:spPr>
        <p:txBody>
          <a:bodyPr wrap="square" lIns="0" tIns="0" rIns="0" bIns="0" rtlCol="0" anchor="t">
            <a:normAutofit/>
          </a:bodyPr>
          <a:lstStyle/>
          <a:p>
            <a:pPr marL="0" indent="0" algn="l">
              <a:lnSpc>
                <a:spcPct val="116000"/>
              </a:lnSpc>
              <a:buNone/>
            </a:pPr>
            <a:r>
              <a:rPr lang="en-US" sz="950" kern="0" spc="-19" dirty="0">
                <a:solidFill>
                  <a:srgbClr val="4C6680"/>
                </a:solidFill>
                <a:latin typeface="DM Sans" pitchFamily="34" charset="0"/>
                <a:ea typeface="DM Sans" pitchFamily="34" charset="-122"/>
                <a:cs typeface="DM Sans" pitchFamily="34" charset="-120"/>
              </a:rPr>
              <a:t>Booking Service validates dates, checks existing reservations, and rejects overlapping bookings. Example: an existing reservation of 10–15 Sep blocks a new request for 12–18 Sep on the same room.</a:t>
            </a:r>
            <a:endParaRPr lang="en-US" sz="950" dirty="0"/>
          </a:p>
        </p:txBody>
      </p:sp>
      <p:sp>
        <p:nvSpPr>
          <p:cNvPr id="16" name="Shape 13"/>
          <p:cNvSpPr/>
          <p:nvPr/>
        </p:nvSpPr>
        <p:spPr>
          <a:xfrm>
            <a:off x="1333070" y="4299446"/>
            <a:ext cx="122036" cy="645120"/>
          </a:xfrm>
          <a:prstGeom prst="roundRect">
            <a:avLst>
              <a:gd name="adj" fmla="val 15009"/>
            </a:avLst>
          </a:prstGeom>
          <a:solidFill>
            <a:srgbClr val="DFE6EC"/>
          </a:solidFill>
          <a:ln/>
        </p:spPr>
      </p:sp>
      <p:sp>
        <p:nvSpPr>
          <p:cNvPr id="17" name="Text 14"/>
          <p:cNvSpPr/>
          <p:nvPr/>
        </p:nvSpPr>
        <p:spPr>
          <a:xfrm>
            <a:off x="1667329" y="4238327"/>
            <a:ext cx="9862891" cy="190698"/>
          </a:xfrm>
          <a:prstGeom prst="rect">
            <a:avLst/>
          </a:prstGeom>
          <a:noFill/>
          <a:ln/>
        </p:spPr>
        <p:txBody>
          <a:bodyPr wrap="none" lIns="0" tIns="0" rIns="0" bIns="0" rtlCol="0" anchor="t"/>
          <a:lstStyle/>
          <a:p>
            <a:pPr marL="0" indent="0" algn="l">
              <a:lnSpc>
                <a:spcPct val="104000"/>
              </a:lnSpc>
              <a:buNone/>
            </a:pPr>
            <a:r>
              <a:rPr lang="en-US" sz="1200" kern="0" spc="-36" dirty="0">
                <a:solidFill>
                  <a:srgbClr val="4C6680"/>
                </a:solidFill>
                <a:latin typeface="DM Sans SemiBold" pitchFamily="34" charset="0"/>
                <a:ea typeface="DM Sans SemiBold" pitchFamily="34" charset="-122"/>
                <a:cs typeface="DM Sans SemiBold" pitchFamily="34" charset="-120"/>
              </a:rPr>
              <a:t>Confirmation &amp; Cancellation</a:t>
            </a:r>
            <a:endParaRPr lang="en-US" sz="1200" dirty="0"/>
          </a:p>
        </p:txBody>
      </p:sp>
      <p:sp>
        <p:nvSpPr>
          <p:cNvPr id="18" name="Text 15"/>
          <p:cNvSpPr/>
          <p:nvPr/>
        </p:nvSpPr>
        <p:spPr>
          <a:xfrm>
            <a:off x="1667329" y="4483100"/>
            <a:ext cx="9862891" cy="339527"/>
          </a:xfrm>
          <a:prstGeom prst="rect">
            <a:avLst/>
          </a:prstGeom>
          <a:noFill/>
          <a:ln/>
        </p:spPr>
        <p:txBody>
          <a:bodyPr wrap="square" lIns="0" tIns="0" rIns="0" bIns="0" rtlCol="0" anchor="t">
            <a:normAutofit/>
          </a:bodyPr>
          <a:lstStyle/>
          <a:p>
            <a:pPr marL="0" indent="0" algn="l">
              <a:lnSpc>
                <a:spcPct val="116000"/>
              </a:lnSpc>
              <a:buNone/>
            </a:pPr>
            <a:r>
              <a:rPr lang="en-US" sz="950" kern="0" spc="-19" dirty="0">
                <a:solidFill>
                  <a:srgbClr val="4C6680"/>
                </a:solidFill>
                <a:latin typeface="DM Sans" pitchFamily="34" charset="0"/>
                <a:ea typeface="DM Sans" pitchFamily="34" charset="-122"/>
                <a:cs typeface="DM Sans" pitchFamily="34" charset="-120"/>
              </a:rPr>
              <a:t>On success, Booking Service returns a Booking ID, room details, check-in/check-out dates, and status. On cancellation, Room Service is notified and availability is updated immediately.</a:t>
            </a:r>
            <a:endParaRPr lang="en-US" sz="950" dirty="0"/>
          </a:p>
        </p:txBody>
      </p:sp>
      <p:sp>
        <p:nvSpPr>
          <p:cNvPr id="19" name="Shape 16"/>
          <p:cNvSpPr/>
          <p:nvPr/>
        </p:nvSpPr>
        <p:spPr>
          <a:xfrm>
            <a:off x="1149917" y="5217914"/>
            <a:ext cx="122036" cy="549374"/>
          </a:xfrm>
          <a:prstGeom prst="roundRect">
            <a:avLst>
              <a:gd name="adj" fmla="val 15009"/>
            </a:avLst>
          </a:prstGeom>
          <a:solidFill>
            <a:srgbClr val="DFE6EC"/>
          </a:solidFill>
          <a:ln/>
        </p:spPr>
      </p:sp>
      <p:sp>
        <p:nvSpPr>
          <p:cNvPr id="20" name="Text 17"/>
          <p:cNvSpPr/>
          <p:nvPr/>
        </p:nvSpPr>
        <p:spPr>
          <a:xfrm>
            <a:off x="1484176" y="5156795"/>
            <a:ext cx="10046044" cy="190698"/>
          </a:xfrm>
          <a:prstGeom prst="rect">
            <a:avLst/>
          </a:prstGeom>
          <a:noFill/>
          <a:ln/>
        </p:spPr>
        <p:txBody>
          <a:bodyPr wrap="none" lIns="0" tIns="0" rIns="0" bIns="0" rtlCol="0" anchor="t"/>
          <a:lstStyle/>
          <a:p>
            <a:pPr marL="0" indent="0" algn="l">
              <a:lnSpc>
                <a:spcPct val="104000"/>
              </a:lnSpc>
              <a:buNone/>
            </a:pPr>
            <a:r>
              <a:rPr lang="en-US" sz="1200" kern="0" spc="-36" dirty="0">
                <a:solidFill>
                  <a:srgbClr val="4C6680"/>
                </a:solidFill>
                <a:latin typeface="DM Sans SemiBold" pitchFamily="34" charset="0"/>
                <a:ea typeface="DM Sans SemiBold" pitchFamily="34" charset="-122"/>
                <a:cs typeface="DM Sans SemiBold" pitchFamily="34" charset="-120"/>
              </a:rPr>
              <a:t>Innovative Enhancements</a:t>
            </a:r>
            <a:endParaRPr lang="en-US" sz="1200" dirty="0"/>
          </a:p>
        </p:txBody>
      </p:sp>
      <p:sp>
        <p:nvSpPr>
          <p:cNvPr id="21" name="Text 18"/>
          <p:cNvSpPr/>
          <p:nvPr/>
        </p:nvSpPr>
        <p:spPr>
          <a:xfrm>
            <a:off x="1484176" y="5401568"/>
            <a:ext cx="10046044" cy="169763"/>
          </a:xfrm>
          <a:prstGeom prst="rect">
            <a:avLst/>
          </a:prstGeom>
          <a:noFill/>
          <a:ln/>
        </p:spPr>
        <p:txBody>
          <a:bodyPr wrap="none" lIns="0" tIns="0" rIns="0" bIns="0" rtlCol="0" anchor="t"/>
          <a:lstStyle/>
          <a:p>
            <a:pPr marL="0" indent="0" algn="l">
              <a:lnSpc>
                <a:spcPct val="116000"/>
              </a:lnSpc>
              <a:buNone/>
            </a:pPr>
            <a:r>
              <a:rPr lang="en-US" sz="950" kern="0" spc="-19" dirty="0">
                <a:solidFill>
                  <a:srgbClr val="4C6680"/>
                </a:solidFill>
                <a:latin typeface="DM Sans" pitchFamily="34" charset="0"/>
                <a:ea typeface="DM Sans" pitchFamily="34" charset="-122"/>
                <a:cs typeface="DM Sans" pitchFamily="34" charset="-120"/>
              </a:rPr>
              <a:t>Planned features include AI Room Recommendation, Dynamic Pricing, Smart Notifications (email/SMS), Chatbot Support, Personalized Offers, and Peak-Season Auto Scaling.</a:t>
            </a:r>
            <a:endParaRPr lang="en-US" sz="950" dirty="0"/>
          </a:p>
        </p:txBody>
      </p:sp>
      <p:sp>
        <p:nvSpPr>
          <p:cNvPr id="22" name="Shape 19"/>
          <p:cNvSpPr/>
          <p:nvPr/>
        </p:nvSpPr>
        <p:spPr>
          <a:xfrm>
            <a:off x="661475" y="5868789"/>
            <a:ext cx="10868745" cy="401836"/>
          </a:xfrm>
          <a:prstGeom prst="roundRect">
            <a:avLst>
              <a:gd name="adj" fmla="val 4558"/>
            </a:avLst>
          </a:prstGeom>
          <a:solidFill>
            <a:srgbClr val="6A89A7"/>
          </a:solidFill>
          <a:ln/>
        </p:spPr>
      </p:sp>
      <p:sp>
        <p:nvSpPr>
          <p:cNvPr id="23" name="Text 20"/>
          <p:cNvSpPr/>
          <p:nvPr/>
        </p:nvSpPr>
        <p:spPr>
          <a:xfrm>
            <a:off x="783511" y="5989340"/>
            <a:ext cx="11234258" cy="169763"/>
          </a:xfrm>
          <a:prstGeom prst="rect">
            <a:avLst/>
          </a:prstGeom>
          <a:noFill/>
          <a:ln/>
        </p:spPr>
        <p:txBody>
          <a:bodyPr wrap="none" lIns="0" tIns="0" rIns="0" bIns="0" rtlCol="0" anchor="t"/>
          <a:lstStyle/>
          <a:p>
            <a:pPr marL="0" indent="0" algn="l">
              <a:lnSpc>
                <a:spcPct val="116000"/>
              </a:lnSpc>
              <a:buNone/>
            </a:pPr>
            <a:r>
              <a:rPr lang="en-US" sz="950" kern="0" spc="-19" dirty="0">
                <a:solidFill>
                  <a:srgbClr val="FAF9F6"/>
                </a:solidFill>
                <a:latin typeface="DM Sans" pitchFamily="34" charset="0"/>
                <a:ea typeface="DM Sans" pitchFamily="34" charset="-122"/>
                <a:cs typeface="DM Sans" pitchFamily="34" charset="-120"/>
              </a:rPr>
              <a:t>All microservices — User Service, Room Service, and Booking Service — register with Eureka Server, enabling dynamic discovery and routing through the API Gateway without fixed IP dependencies.</a:t>
            </a:r>
            <a:endParaRPr lang="en-US" sz="950" dirty="0"/>
          </a:p>
        </p:txBody>
      </p:sp>
      <p:sp>
        <p:nvSpPr>
          <p:cNvPr id="24" name="Shape 21"/>
          <p:cNvSpPr/>
          <p:nvPr/>
        </p:nvSpPr>
        <p:spPr>
          <a:xfrm>
            <a:off x="661475" y="1655366"/>
            <a:ext cx="366306" cy="366316"/>
          </a:xfrm>
          <a:prstGeom prst="ellipse">
            <a:avLst/>
          </a:prstGeom>
          <a:solidFill>
            <a:srgbClr val="DFE6EC"/>
          </a:solidFill>
          <a:ln/>
        </p:spPr>
      </p:sp>
      <p:pic>
        <p:nvPicPr>
          <p:cNvPr id="25"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753051" y="1746945"/>
            <a:ext cx="183153" cy="183158"/>
          </a:xfrm>
          <a:prstGeom prst="rect">
            <a:avLst/>
          </a:prstGeom>
        </p:spPr>
      </p:pic>
      <p:sp>
        <p:nvSpPr>
          <p:cNvPr id="26" name="Shape 22"/>
          <p:cNvSpPr/>
          <p:nvPr/>
        </p:nvSpPr>
        <p:spPr>
          <a:xfrm>
            <a:off x="844628" y="2478088"/>
            <a:ext cx="366306" cy="366316"/>
          </a:xfrm>
          <a:prstGeom prst="ellipse">
            <a:avLst/>
          </a:prstGeom>
          <a:solidFill>
            <a:srgbClr val="DFE6EC"/>
          </a:solidFill>
          <a:ln/>
        </p:spPr>
      </p:sp>
      <p:pic>
        <p:nvPicPr>
          <p:cNvPr id="27"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936205" y="2569666"/>
            <a:ext cx="183153" cy="183158"/>
          </a:xfrm>
          <a:prstGeom prst="rect">
            <a:avLst/>
          </a:prstGeom>
        </p:spPr>
      </p:pic>
      <p:sp>
        <p:nvSpPr>
          <p:cNvPr id="28" name="Shape 23"/>
          <p:cNvSpPr/>
          <p:nvPr/>
        </p:nvSpPr>
        <p:spPr>
          <a:xfrm>
            <a:off x="1027781" y="3300809"/>
            <a:ext cx="366306" cy="366316"/>
          </a:xfrm>
          <a:prstGeom prst="ellipse">
            <a:avLst/>
          </a:prstGeom>
          <a:solidFill>
            <a:srgbClr val="DFE6EC"/>
          </a:solidFill>
          <a:ln/>
        </p:spPr>
      </p:sp>
      <p:pic>
        <p:nvPicPr>
          <p:cNvPr id="29" name="Image 3"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1119358" y="3392388"/>
            <a:ext cx="183153" cy="183158"/>
          </a:xfrm>
          <a:prstGeom prst="rect">
            <a:avLst/>
          </a:prstGeom>
        </p:spPr>
      </p:pic>
      <p:sp>
        <p:nvSpPr>
          <p:cNvPr id="30" name="Shape 24"/>
          <p:cNvSpPr/>
          <p:nvPr/>
        </p:nvSpPr>
        <p:spPr>
          <a:xfrm>
            <a:off x="1210935" y="4219277"/>
            <a:ext cx="366306" cy="366316"/>
          </a:xfrm>
          <a:prstGeom prst="ellipse">
            <a:avLst/>
          </a:prstGeom>
          <a:solidFill>
            <a:srgbClr val="DFE6EC"/>
          </a:solidFill>
          <a:ln/>
        </p:spPr>
      </p:sp>
      <p:pic>
        <p:nvPicPr>
          <p:cNvPr id="31" name="Image 4" descr="preencoded.png"/>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1302511" y="4310856"/>
            <a:ext cx="183153" cy="183158"/>
          </a:xfrm>
          <a:prstGeom prst="rect">
            <a:avLst/>
          </a:prstGeom>
        </p:spPr>
      </p:pic>
      <p:sp>
        <p:nvSpPr>
          <p:cNvPr id="32" name="Shape 25"/>
          <p:cNvSpPr/>
          <p:nvPr/>
        </p:nvSpPr>
        <p:spPr>
          <a:xfrm>
            <a:off x="1027781" y="5137745"/>
            <a:ext cx="366306" cy="366316"/>
          </a:xfrm>
          <a:prstGeom prst="ellipse">
            <a:avLst/>
          </a:prstGeom>
          <a:solidFill>
            <a:srgbClr val="DFE6EC"/>
          </a:solidFill>
          <a:ln/>
        </p:spPr>
      </p:sp>
      <p:pic>
        <p:nvPicPr>
          <p:cNvPr id="33" name="Image 5" descr="preencoded.png"/>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1119358" y="5229324"/>
            <a:ext cx="183153" cy="183158"/>
          </a:xfrm>
          <a:prstGeom prst="rect">
            <a:avLst/>
          </a:prstGeom>
        </p:spPr>
      </p:pic>
      <p:sp>
        <p:nvSpPr>
          <p:cNvPr id="35" name="Rectangle 34">
            <a:extLst>
              <a:ext uri="{FF2B5EF4-FFF2-40B4-BE49-F238E27FC236}">
                <a16:creationId xmlns:a16="http://schemas.microsoft.com/office/drawing/2014/main" id="{FE8724C9-A52B-0BA0-CAEF-B2875B6DACEA}"/>
              </a:ext>
            </a:extLst>
          </p:cNvPr>
          <p:cNvSpPr/>
          <p:nvPr/>
        </p:nvSpPr>
        <p:spPr>
          <a:xfrm>
            <a:off x="10951722" y="6391469"/>
            <a:ext cx="1156996" cy="420591"/>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12</TotalTime>
  <Words>913</Words>
  <Application>Microsoft Office PowerPoint</Application>
  <PresentationFormat>Widescreen</PresentationFormat>
  <Paragraphs>67</Paragraphs>
  <Slides>6</Slides>
  <Notes>6</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6</vt:i4>
      </vt:variant>
    </vt:vector>
  </HeadingPairs>
  <TitlesOfParts>
    <vt:vector size="10" baseType="lpstr">
      <vt:lpstr>Arial</vt:lpstr>
      <vt:lpstr>DM Sans</vt:lpstr>
      <vt:lpstr>DM Sans SemiBold</vt:lpstr>
      <vt:lpstr>Office Theme</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SAAJID BASHA SYED</dc:creator>
  <cp:lastModifiedBy>SAAJID BASHA SYED</cp:lastModifiedBy>
  <cp:revision>6</cp:revision>
  <dcterms:created xsi:type="dcterms:W3CDTF">2026-09-17T08:56:24Z</dcterms:created>
  <dcterms:modified xsi:type="dcterms:W3CDTF">2026-09-17T09:10:10Z</dcterms:modified>
</cp:coreProperties>
</file>